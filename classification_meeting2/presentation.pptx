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9"/>
  </p:notesMasterIdLst>
  <p:sldIdLst>
    <p:sldId id="256" r:id="rId2"/>
    <p:sldId id="279" r:id="rId3"/>
    <p:sldId id="272" r:id="rId4"/>
    <p:sldId id="273" r:id="rId5"/>
    <p:sldId id="274" r:id="rId6"/>
    <p:sldId id="275" r:id="rId7"/>
    <p:sldId id="277" r:id="rId8"/>
    <p:sldId id="284" r:id="rId9"/>
    <p:sldId id="278" r:id="rId10"/>
    <p:sldId id="280" r:id="rId11"/>
    <p:sldId id="281" r:id="rId12"/>
    <p:sldId id="282" r:id="rId13"/>
    <p:sldId id="285" r:id="rId14"/>
    <p:sldId id="286" r:id="rId15"/>
    <p:sldId id="276" r:id="rId16"/>
    <p:sldId id="297" r:id="rId17"/>
    <p:sldId id="290" r:id="rId18"/>
    <p:sldId id="288" r:id="rId19"/>
    <p:sldId id="295" r:id="rId20"/>
    <p:sldId id="293" r:id="rId21"/>
    <p:sldId id="262" r:id="rId22"/>
    <p:sldId id="263" r:id="rId23"/>
    <p:sldId id="261" r:id="rId24"/>
    <p:sldId id="264" r:id="rId25"/>
    <p:sldId id="298" r:id="rId26"/>
    <p:sldId id="294" r:id="rId27"/>
    <p:sldId id="300" r:id="rId28"/>
    <p:sldId id="257" r:id="rId29"/>
    <p:sldId id="301" r:id="rId30"/>
    <p:sldId id="302" r:id="rId31"/>
    <p:sldId id="306" r:id="rId32"/>
    <p:sldId id="305" r:id="rId33"/>
    <p:sldId id="304" r:id="rId34"/>
    <p:sldId id="303" r:id="rId35"/>
    <p:sldId id="307" r:id="rId36"/>
    <p:sldId id="308" r:id="rId37"/>
    <p:sldId id="311" r:id="rId38"/>
    <p:sldId id="313" r:id="rId39"/>
    <p:sldId id="310" r:id="rId40"/>
    <p:sldId id="309" r:id="rId41"/>
    <p:sldId id="315" r:id="rId42"/>
    <p:sldId id="312" r:id="rId43"/>
    <p:sldId id="314" r:id="rId44"/>
    <p:sldId id="316" r:id="rId45"/>
    <p:sldId id="296" r:id="rId46"/>
    <p:sldId id="317" r:id="rId47"/>
    <p:sldId id="292" r:id="rId48"/>
    <p:sldId id="319" r:id="rId49"/>
    <p:sldId id="265" r:id="rId50"/>
    <p:sldId id="321" r:id="rId51"/>
    <p:sldId id="267" r:id="rId52"/>
    <p:sldId id="268" r:id="rId53"/>
    <p:sldId id="322" r:id="rId54"/>
    <p:sldId id="323" r:id="rId55"/>
    <p:sldId id="266" r:id="rId56"/>
    <p:sldId id="320" r:id="rId57"/>
    <p:sldId id="269" r:id="rId58"/>
    <p:sldId id="270" r:id="rId59"/>
    <p:sldId id="325" r:id="rId60"/>
    <p:sldId id="324" r:id="rId61"/>
    <p:sldId id="271" r:id="rId62"/>
    <p:sldId id="327" r:id="rId63"/>
    <p:sldId id="326" r:id="rId64"/>
    <p:sldId id="329" r:id="rId65"/>
    <p:sldId id="289" r:id="rId66"/>
    <p:sldId id="318" r:id="rId67"/>
    <p:sldId id="328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4E125C-B725-4160-A7BA-AF02C58A7298}">
          <p14:sldIdLst>
            <p14:sldId id="256"/>
          </p14:sldIdLst>
        </p14:section>
        <p14:section name="introduction" id="{5A13CE27-45F4-48A2-9934-9C08663E1977}">
          <p14:sldIdLst>
            <p14:sldId id="279"/>
            <p14:sldId id="272"/>
            <p14:sldId id="273"/>
            <p14:sldId id="274"/>
            <p14:sldId id="275"/>
            <p14:sldId id="277"/>
          </p14:sldIdLst>
        </p14:section>
        <p14:section name="super vs unsuper" id="{552A0C47-41E5-4BB1-8235-CA7532E57A50}">
          <p14:sldIdLst>
            <p14:sldId id="284"/>
            <p14:sldId id="278"/>
            <p14:sldId id="280"/>
            <p14:sldId id="281"/>
            <p14:sldId id="282"/>
          </p14:sldIdLst>
        </p14:section>
        <p14:section name="classification" id="{F2B1A8AF-4C67-4775-BBFF-53078B87E150}">
          <p14:sldIdLst>
            <p14:sldId id="285"/>
            <p14:sldId id="286"/>
            <p14:sldId id="276"/>
            <p14:sldId id="297"/>
            <p14:sldId id="290"/>
            <p14:sldId id="288"/>
            <p14:sldId id="295"/>
          </p14:sldIdLst>
        </p14:section>
        <p14:section name="vectorization" id="{D8057566-4A4E-4E22-8927-A95B4F17FF56}">
          <p14:sldIdLst>
            <p14:sldId id="293"/>
            <p14:sldId id="262"/>
            <p14:sldId id="263"/>
            <p14:sldId id="261"/>
            <p14:sldId id="264"/>
            <p14:sldId id="298"/>
          </p14:sldIdLst>
        </p14:section>
        <p14:section name="classification algorithms" id="{C37FDCB0-C4C8-4415-8815-45CF5E8A2710}">
          <p14:sldIdLst>
            <p14:sldId id="294"/>
            <p14:sldId id="300"/>
            <p14:sldId id="257"/>
            <p14:sldId id="301"/>
            <p14:sldId id="302"/>
            <p14:sldId id="306"/>
            <p14:sldId id="305"/>
            <p14:sldId id="304"/>
            <p14:sldId id="303"/>
            <p14:sldId id="307"/>
            <p14:sldId id="308"/>
            <p14:sldId id="311"/>
            <p14:sldId id="313"/>
            <p14:sldId id="310"/>
            <p14:sldId id="309"/>
            <p14:sldId id="315"/>
            <p14:sldId id="312"/>
            <p14:sldId id="314"/>
            <p14:sldId id="316"/>
            <p14:sldId id="296"/>
            <p14:sldId id="317"/>
          </p14:sldIdLst>
        </p14:section>
        <p14:section name="XGBOOST" id="{A0B4C5A7-9EF1-49C2-8F45-38EAD8D3A0A9}">
          <p14:sldIdLst>
            <p14:sldId id="292"/>
            <p14:sldId id="319"/>
            <p14:sldId id="265"/>
            <p14:sldId id="321"/>
            <p14:sldId id="267"/>
            <p14:sldId id="268"/>
            <p14:sldId id="322"/>
            <p14:sldId id="323"/>
            <p14:sldId id="266"/>
            <p14:sldId id="320"/>
            <p14:sldId id="269"/>
            <p14:sldId id="270"/>
            <p14:sldId id="325"/>
            <p14:sldId id="324"/>
            <p14:sldId id="271"/>
            <p14:sldId id="327"/>
          </p14:sldIdLst>
        </p14:section>
        <p14:section name="titanic" id="{46226AF4-F9F5-495E-967E-165FE043C626}">
          <p14:sldIdLst>
            <p14:sldId id="326"/>
            <p14:sldId id="329"/>
            <p14:sldId id="289"/>
            <p14:sldId id="318"/>
            <p14:sldId id="3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CC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74" autoAdjust="0"/>
  </p:normalViewPr>
  <p:slideViewPr>
    <p:cSldViewPr snapToGrid="0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code/alexisbcook/titanic-tutorial" TargetMode="Externa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code/alexisbcook/titanic-tutoria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147AA7-A8E7-4552-ADDD-CBA22607992A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84E724D0-585E-482F-9D78-41691D65295C}">
      <dgm:prSet phldrT="[Text]"/>
      <dgm:spPr/>
      <dgm:t>
        <a:bodyPr/>
        <a:lstStyle/>
        <a:p>
          <a:r>
            <a:rPr lang="en-US" dirty="0" smtClean="0"/>
            <a:t>No predefined categories?</a:t>
          </a:r>
          <a:endParaRPr lang="en-US" dirty="0"/>
        </a:p>
      </dgm:t>
    </dgm:pt>
    <dgm:pt modelId="{76ADE937-5F6D-4781-9026-98DF1754C46A}" type="parTrans" cxnId="{466531B8-61DD-47FF-80BD-FC8CDFB49992}">
      <dgm:prSet/>
      <dgm:spPr/>
      <dgm:t>
        <a:bodyPr/>
        <a:lstStyle/>
        <a:p>
          <a:endParaRPr lang="en-US"/>
        </a:p>
      </dgm:t>
    </dgm:pt>
    <dgm:pt modelId="{8A97F8C8-A637-49CE-9BE2-44BEEC066D4B}" type="sibTrans" cxnId="{466531B8-61DD-47FF-80BD-FC8CDFB49992}">
      <dgm:prSet/>
      <dgm:spPr/>
      <dgm:t>
        <a:bodyPr/>
        <a:lstStyle/>
        <a:p>
          <a:endParaRPr lang="en-US"/>
        </a:p>
      </dgm:t>
    </dgm:pt>
    <dgm:pt modelId="{C66D729A-A703-4364-8219-4C3F29A61A03}">
      <dgm:prSet phldrT="[Text]"/>
      <dgm:spPr/>
      <dgm:t>
        <a:bodyPr/>
        <a:lstStyle/>
        <a:p>
          <a:r>
            <a:rPr lang="en-US" dirty="0" smtClean="0"/>
            <a:t>Unsupervised machine learning</a:t>
          </a:r>
          <a:endParaRPr lang="en-US" dirty="0"/>
        </a:p>
      </dgm:t>
    </dgm:pt>
    <dgm:pt modelId="{849FE66A-507C-4C30-BECB-D48FC286E64F}" type="parTrans" cxnId="{17A78AD3-8BAF-4E23-9E9C-FBC3B95F9A41}">
      <dgm:prSet/>
      <dgm:spPr/>
      <dgm:t>
        <a:bodyPr/>
        <a:lstStyle/>
        <a:p>
          <a:endParaRPr lang="en-US"/>
        </a:p>
      </dgm:t>
    </dgm:pt>
    <dgm:pt modelId="{C3E70362-1CE4-4C8C-BA2C-4178D054A4CC}" type="sibTrans" cxnId="{17A78AD3-8BAF-4E23-9E9C-FBC3B95F9A41}">
      <dgm:prSet/>
      <dgm:spPr/>
      <dgm:t>
        <a:bodyPr/>
        <a:lstStyle/>
        <a:p>
          <a:endParaRPr lang="en-US"/>
        </a:p>
      </dgm:t>
    </dgm:pt>
    <dgm:pt modelId="{2D9FE189-9B57-4C64-92CF-AA4866B04E3D}" type="pres">
      <dgm:prSet presAssocID="{F1147AA7-A8E7-4552-ADDD-CBA22607992A}" presName="Name0" presStyleCnt="0">
        <dgm:presLayoutVars>
          <dgm:dir/>
          <dgm:resizeHandles val="exact"/>
        </dgm:presLayoutVars>
      </dgm:prSet>
      <dgm:spPr/>
    </dgm:pt>
    <dgm:pt modelId="{7C28AD26-85C9-483C-96CB-DA8FC0965091}" type="pres">
      <dgm:prSet presAssocID="{84E724D0-585E-482F-9D78-41691D65295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3E0F84-EEC2-4905-B0BE-11362FA621A6}" type="pres">
      <dgm:prSet presAssocID="{8A97F8C8-A637-49CE-9BE2-44BEEC066D4B}" presName="sibTrans" presStyleLbl="sibTrans2D1" presStyleIdx="0" presStyleCnt="1"/>
      <dgm:spPr/>
      <dgm:t>
        <a:bodyPr/>
        <a:lstStyle/>
        <a:p>
          <a:endParaRPr lang="en-US"/>
        </a:p>
      </dgm:t>
    </dgm:pt>
    <dgm:pt modelId="{95E191C1-933E-412F-8366-210E4FCDE2D3}" type="pres">
      <dgm:prSet presAssocID="{8A97F8C8-A637-49CE-9BE2-44BEEC066D4B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60182AAB-EAE7-4BE7-B703-A70A41D43DED}" type="pres">
      <dgm:prSet presAssocID="{C66D729A-A703-4364-8219-4C3F29A61A03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7A78AD3-8BAF-4E23-9E9C-FBC3B95F9A41}" srcId="{F1147AA7-A8E7-4552-ADDD-CBA22607992A}" destId="{C66D729A-A703-4364-8219-4C3F29A61A03}" srcOrd="1" destOrd="0" parTransId="{849FE66A-507C-4C30-BECB-D48FC286E64F}" sibTransId="{C3E70362-1CE4-4C8C-BA2C-4178D054A4CC}"/>
    <dgm:cxn modelId="{466531B8-61DD-47FF-80BD-FC8CDFB49992}" srcId="{F1147AA7-A8E7-4552-ADDD-CBA22607992A}" destId="{84E724D0-585E-482F-9D78-41691D65295C}" srcOrd="0" destOrd="0" parTransId="{76ADE937-5F6D-4781-9026-98DF1754C46A}" sibTransId="{8A97F8C8-A637-49CE-9BE2-44BEEC066D4B}"/>
    <dgm:cxn modelId="{A19A7A4A-DD21-4677-9FF3-3A5D99502ED7}" type="presOf" srcId="{8A97F8C8-A637-49CE-9BE2-44BEEC066D4B}" destId="{95E191C1-933E-412F-8366-210E4FCDE2D3}" srcOrd="1" destOrd="0" presId="urn:microsoft.com/office/officeart/2005/8/layout/process1"/>
    <dgm:cxn modelId="{9707F6AD-FC95-4CBB-893F-0FBEF9073271}" type="presOf" srcId="{F1147AA7-A8E7-4552-ADDD-CBA22607992A}" destId="{2D9FE189-9B57-4C64-92CF-AA4866B04E3D}" srcOrd="0" destOrd="0" presId="urn:microsoft.com/office/officeart/2005/8/layout/process1"/>
    <dgm:cxn modelId="{ECE2AFB3-CEAA-4867-AA5C-185EDF9E961F}" type="presOf" srcId="{84E724D0-585E-482F-9D78-41691D65295C}" destId="{7C28AD26-85C9-483C-96CB-DA8FC0965091}" srcOrd="0" destOrd="0" presId="urn:microsoft.com/office/officeart/2005/8/layout/process1"/>
    <dgm:cxn modelId="{C67DFF39-2296-41D5-8BC6-ACC81DFA67D2}" type="presOf" srcId="{8A97F8C8-A637-49CE-9BE2-44BEEC066D4B}" destId="{D33E0F84-EEC2-4905-B0BE-11362FA621A6}" srcOrd="0" destOrd="0" presId="urn:microsoft.com/office/officeart/2005/8/layout/process1"/>
    <dgm:cxn modelId="{FAB5945A-42EA-43A7-9CDB-D049D735F20C}" type="presOf" srcId="{C66D729A-A703-4364-8219-4C3F29A61A03}" destId="{60182AAB-EAE7-4BE7-B703-A70A41D43DED}" srcOrd="0" destOrd="0" presId="urn:microsoft.com/office/officeart/2005/8/layout/process1"/>
    <dgm:cxn modelId="{FE45C5CE-6246-46E1-A382-FB4C9654D8DF}" type="presParOf" srcId="{2D9FE189-9B57-4C64-92CF-AA4866B04E3D}" destId="{7C28AD26-85C9-483C-96CB-DA8FC0965091}" srcOrd="0" destOrd="0" presId="urn:microsoft.com/office/officeart/2005/8/layout/process1"/>
    <dgm:cxn modelId="{7A4F3D84-832C-4180-924C-D9809D2B6C0B}" type="presParOf" srcId="{2D9FE189-9B57-4C64-92CF-AA4866B04E3D}" destId="{D33E0F84-EEC2-4905-B0BE-11362FA621A6}" srcOrd="1" destOrd="0" presId="urn:microsoft.com/office/officeart/2005/8/layout/process1"/>
    <dgm:cxn modelId="{CA547B63-2FE7-4F40-A8C8-FFEA0F9F65D8}" type="presParOf" srcId="{D33E0F84-EEC2-4905-B0BE-11362FA621A6}" destId="{95E191C1-933E-412F-8366-210E4FCDE2D3}" srcOrd="0" destOrd="0" presId="urn:microsoft.com/office/officeart/2005/8/layout/process1"/>
    <dgm:cxn modelId="{D57C8E50-2287-46F2-A054-3103A08F79B0}" type="presParOf" srcId="{2D9FE189-9B57-4C64-92CF-AA4866B04E3D}" destId="{60182AAB-EAE7-4BE7-B703-A70A41D43DE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F444B8-5CF9-43BD-88DE-F7871762405B}" type="doc">
      <dgm:prSet loTypeId="urn:microsoft.com/office/officeart/2005/8/layout/hierarchy6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1B2CC63-AF9B-4F14-9B90-6A4F96586986}">
      <dgm:prSet phldrT="[Text]"/>
      <dgm:spPr/>
      <dgm:t>
        <a:bodyPr/>
        <a:lstStyle/>
        <a:p>
          <a:r>
            <a:rPr lang="en-US" dirty="0" smtClean="0"/>
            <a:t>ML</a:t>
          </a:r>
          <a:endParaRPr lang="en-US" dirty="0"/>
        </a:p>
      </dgm:t>
    </dgm:pt>
    <dgm:pt modelId="{A63DC527-433F-4DB9-821F-709B528F955B}" type="parTrans" cxnId="{F3EE5E87-987D-45FA-BF08-ED547FC5C5FA}">
      <dgm:prSet/>
      <dgm:spPr/>
      <dgm:t>
        <a:bodyPr/>
        <a:lstStyle/>
        <a:p>
          <a:endParaRPr lang="en-US"/>
        </a:p>
      </dgm:t>
    </dgm:pt>
    <dgm:pt modelId="{E1937142-D8AD-4B54-A764-0DE0B078E4A4}" type="sibTrans" cxnId="{F3EE5E87-987D-45FA-BF08-ED547FC5C5FA}">
      <dgm:prSet/>
      <dgm:spPr/>
      <dgm:t>
        <a:bodyPr/>
        <a:lstStyle/>
        <a:p>
          <a:endParaRPr lang="en-US"/>
        </a:p>
      </dgm:t>
    </dgm:pt>
    <dgm:pt modelId="{6FA1E2C8-2232-4CF4-BA28-1EFF232C1F65}">
      <dgm:prSet phldrT="[Text]"/>
      <dgm:spPr/>
      <dgm:t>
        <a:bodyPr/>
        <a:lstStyle/>
        <a:p>
          <a:r>
            <a:rPr lang="en-US" dirty="0" smtClean="0"/>
            <a:t>Supervised</a:t>
          </a:r>
          <a:endParaRPr lang="en-US" dirty="0"/>
        </a:p>
      </dgm:t>
    </dgm:pt>
    <dgm:pt modelId="{5B9762E6-E904-41C0-93F7-567B52CF6B57}" type="parTrans" cxnId="{2EB03123-F308-4EED-83AD-CA7118FFE87B}">
      <dgm:prSet/>
      <dgm:spPr/>
      <dgm:t>
        <a:bodyPr/>
        <a:lstStyle/>
        <a:p>
          <a:endParaRPr lang="en-US"/>
        </a:p>
      </dgm:t>
    </dgm:pt>
    <dgm:pt modelId="{5549A84D-5B37-4D00-BFE4-54A3726043C0}" type="sibTrans" cxnId="{2EB03123-F308-4EED-83AD-CA7118FFE87B}">
      <dgm:prSet/>
      <dgm:spPr/>
      <dgm:t>
        <a:bodyPr/>
        <a:lstStyle/>
        <a:p>
          <a:endParaRPr lang="en-US"/>
        </a:p>
      </dgm:t>
    </dgm:pt>
    <dgm:pt modelId="{424B9F64-9E04-4543-B4CE-1C970D0EF433}">
      <dgm:prSet phldrT="[Text]"/>
      <dgm:spPr/>
      <dgm:t>
        <a:bodyPr/>
        <a:lstStyle/>
        <a:p>
          <a:r>
            <a:rPr lang="en-US" dirty="0" smtClean="0"/>
            <a:t>Unsupervised</a:t>
          </a:r>
          <a:endParaRPr lang="en-US" dirty="0"/>
        </a:p>
      </dgm:t>
    </dgm:pt>
    <dgm:pt modelId="{44DF84F5-DB93-4D20-AF3D-8894C47717B8}" type="parTrans" cxnId="{8BEEC0D7-F837-4826-847D-D57DDE3D54FB}">
      <dgm:prSet/>
      <dgm:spPr/>
      <dgm:t>
        <a:bodyPr/>
        <a:lstStyle/>
        <a:p>
          <a:endParaRPr lang="en-US"/>
        </a:p>
      </dgm:t>
    </dgm:pt>
    <dgm:pt modelId="{2D08155E-B69C-4A1D-9750-E8B20215AC7A}" type="sibTrans" cxnId="{8BEEC0D7-F837-4826-847D-D57DDE3D54FB}">
      <dgm:prSet/>
      <dgm:spPr/>
      <dgm:t>
        <a:bodyPr/>
        <a:lstStyle/>
        <a:p>
          <a:endParaRPr lang="en-US"/>
        </a:p>
      </dgm:t>
    </dgm:pt>
    <dgm:pt modelId="{2A52C008-2685-449C-9662-DAFF56A9E6F8}">
      <dgm:prSet phldrT="[Text]"/>
      <dgm:spPr/>
      <dgm:t>
        <a:bodyPr/>
        <a:lstStyle/>
        <a:p>
          <a:r>
            <a:rPr lang="en-US" b="1" i="0" dirty="0" smtClean="0"/>
            <a:t>Regression</a:t>
          </a:r>
          <a:endParaRPr lang="en-US" dirty="0"/>
        </a:p>
      </dgm:t>
    </dgm:pt>
    <dgm:pt modelId="{9799DB4D-C2A4-4ED7-98B0-6369A184C87A}" type="parTrans" cxnId="{FA3A4B33-DE3F-4160-A2B8-6C0941D0D118}">
      <dgm:prSet/>
      <dgm:spPr/>
      <dgm:t>
        <a:bodyPr/>
        <a:lstStyle/>
        <a:p>
          <a:endParaRPr lang="en-US"/>
        </a:p>
      </dgm:t>
    </dgm:pt>
    <dgm:pt modelId="{E3D27084-E807-45F9-BAEF-E1783DDAD52C}" type="sibTrans" cxnId="{FA3A4B33-DE3F-4160-A2B8-6C0941D0D118}">
      <dgm:prSet/>
      <dgm:spPr/>
      <dgm:t>
        <a:bodyPr/>
        <a:lstStyle/>
        <a:p>
          <a:endParaRPr lang="en-US"/>
        </a:p>
      </dgm:t>
    </dgm:pt>
    <dgm:pt modelId="{F9DABA6A-E3FA-4741-A801-360D3B5878BC}">
      <dgm:prSet phldrT="[Text]"/>
      <dgm:spPr/>
      <dgm:t>
        <a:bodyPr/>
        <a:lstStyle/>
        <a:p>
          <a:r>
            <a:rPr lang="en-US" b="1" i="0" dirty="0" smtClean="0"/>
            <a:t>Classification</a:t>
          </a:r>
          <a:endParaRPr lang="en-US" dirty="0"/>
        </a:p>
      </dgm:t>
    </dgm:pt>
    <dgm:pt modelId="{A49DC4DF-26E0-4CB2-9AC5-C15F38497F43}" type="parTrans" cxnId="{8C5BA587-3914-4F85-A3AB-AE4D8EAE062F}">
      <dgm:prSet/>
      <dgm:spPr/>
      <dgm:t>
        <a:bodyPr/>
        <a:lstStyle/>
        <a:p>
          <a:endParaRPr lang="en-US"/>
        </a:p>
      </dgm:t>
    </dgm:pt>
    <dgm:pt modelId="{1BDB7E4F-307E-4AE4-915B-BED802B945A4}" type="sibTrans" cxnId="{8C5BA587-3914-4F85-A3AB-AE4D8EAE062F}">
      <dgm:prSet/>
      <dgm:spPr/>
      <dgm:t>
        <a:bodyPr/>
        <a:lstStyle/>
        <a:p>
          <a:endParaRPr lang="en-US"/>
        </a:p>
      </dgm:t>
    </dgm:pt>
    <dgm:pt modelId="{EC1A0A97-E678-4976-B199-374CC09C53B1}">
      <dgm:prSet phldrT="[Text]"/>
      <dgm:spPr/>
      <dgm:t>
        <a:bodyPr/>
        <a:lstStyle/>
        <a:p>
          <a:r>
            <a:rPr lang="en-US" b="1" i="0" dirty="0" smtClean="0"/>
            <a:t>Clustering</a:t>
          </a:r>
          <a:endParaRPr lang="en-US" dirty="0"/>
        </a:p>
      </dgm:t>
    </dgm:pt>
    <dgm:pt modelId="{230EC058-A9A8-4C86-A4E2-2ED580221BA1}" type="parTrans" cxnId="{78BE51CE-67C0-4984-9ADB-3ECC6DACDCF7}">
      <dgm:prSet/>
      <dgm:spPr/>
      <dgm:t>
        <a:bodyPr/>
        <a:lstStyle/>
        <a:p>
          <a:endParaRPr lang="en-US"/>
        </a:p>
      </dgm:t>
    </dgm:pt>
    <dgm:pt modelId="{CE7DD692-DFA3-4473-A284-0E059ADC0935}" type="sibTrans" cxnId="{78BE51CE-67C0-4984-9ADB-3ECC6DACDCF7}">
      <dgm:prSet/>
      <dgm:spPr/>
      <dgm:t>
        <a:bodyPr/>
        <a:lstStyle/>
        <a:p>
          <a:endParaRPr lang="en-US"/>
        </a:p>
      </dgm:t>
    </dgm:pt>
    <dgm:pt modelId="{60D47AB2-8009-409F-99A1-0F3BBEBD4A59}">
      <dgm:prSet phldrT="[Text]"/>
      <dgm:spPr/>
      <dgm:t>
        <a:bodyPr/>
        <a:lstStyle/>
        <a:p>
          <a:r>
            <a:rPr lang="en-US" b="1" i="0" dirty="0" smtClean="0"/>
            <a:t>Association rule learning</a:t>
          </a:r>
          <a:endParaRPr lang="en-US" dirty="0"/>
        </a:p>
      </dgm:t>
    </dgm:pt>
    <dgm:pt modelId="{FEE71A41-C586-432A-9A6C-3821598CAFCF}" type="parTrans" cxnId="{3E1F98E0-CE37-4461-A904-00649224F5AA}">
      <dgm:prSet/>
      <dgm:spPr/>
      <dgm:t>
        <a:bodyPr/>
        <a:lstStyle/>
        <a:p>
          <a:endParaRPr lang="en-US"/>
        </a:p>
      </dgm:t>
    </dgm:pt>
    <dgm:pt modelId="{7DD89622-D02E-46C1-B446-7623FA7FA0F8}" type="sibTrans" cxnId="{3E1F98E0-CE37-4461-A904-00649224F5AA}">
      <dgm:prSet/>
      <dgm:spPr/>
      <dgm:t>
        <a:bodyPr/>
        <a:lstStyle/>
        <a:p>
          <a:endParaRPr lang="en-US"/>
        </a:p>
      </dgm:t>
    </dgm:pt>
    <dgm:pt modelId="{E395F30B-E830-488F-B57D-CC7042A0B9A3}" type="pres">
      <dgm:prSet presAssocID="{8DF444B8-5CF9-43BD-88DE-F7871762405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B708ADB-FD9B-4CFC-B941-4090D313C1A2}" type="pres">
      <dgm:prSet presAssocID="{8DF444B8-5CF9-43BD-88DE-F7871762405B}" presName="hierFlow" presStyleCnt="0"/>
      <dgm:spPr/>
    </dgm:pt>
    <dgm:pt modelId="{3FC12A77-3796-46DF-9356-285F7E7729C8}" type="pres">
      <dgm:prSet presAssocID="{8DF444B8-5CF9-43BD-88DE-F7871762405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FEE10F7-2A82-4BB0-9913-3811DE62EC7F}" type="pres">
      <dgm:prSet presAssocID="{A1B2CC63-AF9B-4F14-9B90-6A4F96586986}" presName="Name14" presStyleCnt="0"/>
      <dgm:spPr/>
    </dgm:pt>
    <dgm:pt modelId="{30FC7E6B-0627-474B-BF73-BA4A7A1555DF}" type="pres">
      <dgm:prSet presAssocID="{A1B2CC63-AF9B-4F14-9B90-6A4F96586986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37E7404-25F9-4DA0-8781-683588436FC1}" type="pres">
      <dgm:prSet presAssocID="{A1B2CC63-AF9B-4F14-9B90-6A4F96586986}" presName="hierChild2" presStyleCnt="0"/>
      <dgm:spPr/>
    </dgm:pt>
    <dgm:pt modelId="{8BD67FB6-9A8F-4F0E-B5A0-A4BDE9C19572}" type="pres">
      <dgm:prSet presAssocID="{5B9762E6-E904-41C0-93F7-567B52CF6B57}" presName="Name19" presStyleLbl="parChTrans1D2" presStyleIdx="0" presStyleCnt="2"/>
      <dgm:spPr/>
      <dgm:t>
        <a:bodyPr/>
        <a:lstStyle/>
        <a:p>
          <a:endParaRPr lang="en-US"/>
        </a:p>
      </dgm:t>
    </dgm:pt>
    <dgm:pt modelId="{B0C7EEA6-1FB9-4CBD-BD79-6308D818C4A2}" type="pres">
      <dgm:prSet presAssocID="{6FA1E2C8-2232-4CF4-BA28-1EFF232C1F65}" presName="Name21" presStyleCnt="0"/>
      <dgm:spPr/>
    </dgm:pt>
    <dgm:pt modelId="{B77C3440-95FB-48D8-910E-013CED511044}" type="pres">
      <dgm:prSet presAssocID="{6FA1E2C8-2232-4CF4-BA28-1EFF232C1F65}" presName="level2Shape" presStyleLbl="node2" presStyleIdx="0" presStyleCnt="2"/>
      <dgm:spPr/>
      <dgm:t>
        <a:bodyPr/>
        <a:lstStyle/>
        <a:p>
          <a:endParaRPr lang="en-US"/>
        </a:p>
      </dgm:t>
    </dgm:pt>
    <dgm:pt modelId="{936C3651-BD6E-4222-8E00-5E2ABDAECE45}" type="pres">
      <dgm:prSet presAssocID="{6FA1E2C8-2232-4CF4-BA28-1EFF232C1F65}" presName="hierChild3" presStyleCnt="0"/>
      <dgm:spPr/>
    </dgm:pt>
    <dgm:pt modelId="{EA0D8F52-8A70-47D4-8B3F-3F0BB21A99B9}" type="pres">
      <dgm:prSet presAssocID="{9799DB4D-C2A4-4ED7-98B0-6369A184C87A}" presName="Name19" presStyleLbl="parChTrans1D3" presStyleIdx="0" presStyleCnt="4"/>
      <dgm:spPr/>
      <dgm:t>
        <a:bodyPr/>
        <a:lstStyle/>
        <a:p>
          <a:endParaRPr lang="en-US"/>
        </a:p>
      </dgm:t>
    </dgm:pt>
    <dgm:pt modelId="{3FAC69FE-3DBD-4368-9199-05A3736E0B61}" type="pres">
      <dgm:prSet presAssocID="{2A52C008-2685-449C-9662-DAFF56A9E6F8}" presName="Name21" presStyleCnt="0"/>
      <dgm:spPr/>
    </dgm:pt>
    <dgm:pt modelId="{6881DF5A-0746-4793-81F7-23CC81278073}" type="pres">
      <dgm:prSet presAssocID="{2A52C008-2685-449C-9662-DAFF56A9E6F8}" presName="level2Shape" presStyleLbl="node3" presStyleIdx="0" presStyleCnt="4"/>
      <dgm:spPr/>
      <dgm:t>
        <a:bodyPr/>
        <a:lstStyle/>
        <a:p>
          <a:endParaRPr lang="en-US"/>
        </a:p>
      </dgm:t>
    </dgm:pt>
    <dgm:pt modelId="{DAC9C86D-A7DC-4FCA-AE4D-4752A04B0400}" type="pres">
      <dgm:prSet presAssocID="{2A52C008-2685-449C-9662-DAFF56A9E6F8}" presName="hierChild3" presStyleCnt="0"/>
      <dgm:spPr/>
    </dgm:pt>
    <dgm:pt modelId="{1D1A018B-CBAA-47C5-BB58-09984A5A7619}" type="pres">
      <dgm:prSet presAssocID="{A49DC4DF-26E0-4CB2-9AC5-C15F38497F43}" presName="Name19" presStyleLbl="parChTrans1D3" presStyleIdx="1" presStyleCnt="4"/>
      <dgm:spPr/>
      <dgm:t>
        <a:bodyPr/>
        <a:lstStyle/>
        <a:p>
          <a:endParaRPr lang="en-US"/>
        </a:p>
      </dgm:t>
    </dgm:pt>
    <dgm:pt modelId="{A0503CE8-E2AE-486B-A70F-0BD1A6C7770C}" type="pres">
      <dgm:prSet presAssocID="{F9DABA6A-E3FA-4741-A801-360D3B5878BC}" presName="Name21" presStyleCnt="0"/>
      <dgm:spPr/>
    </dgm:pt>
    <dgm:pt modelId="{0252B009-B169-44C3-BD8A-C8C829AF8972}" type="pres">
      <dgm:prSet presAssocID="{F9DABA6A-E3FA-4741-A801-360D3B5878BC}" presName="level2Shape" presStyleLbl="node3" presStyleIdx="1" presStyleCnt="4"/>
      <dgm:spPr/>
      <dgm:t>
        <a:bodyPr/>
        <a:lstStyle/>
        <a:p>
          <a:endParaRPr lang="en-US"/>
        </a:p>
      </dgm:t>
    </dgm:pt>
    <dgm:pt modelId="{EC78920A-6713-4886-8EBA-D74C59890BD5}" type="pres">
      <dgm:prSet presAssocID="{F9DABA6A-E3FA-4741-A801-360D3B5878BC}" presName="hierChild3" presStyleCnt="0"/>
      <dgm:spPr/>
    </dgm:pt>
    <dgm:pt modelId="{FD81F746-7C40-4A9D-82C3-FE4BA0DDBB98}" type="pres">
      <dgm:prSet presAssocID="{44DF84F5-DB93-4D20-AF3D-8894C47717B8}" presName="Name19" presStyleLbl="parChTrans1D2" presStyleIdx="1" presStyleCnt="2"/>
      <dgm:spPr/>
      <dgm:t>
        <a:bodyPr/>
        <a:lstStyle/>
        <a:p>
          <a:endParaRPr lang="en-US"/>
        </a:p>
      </dgm:t>
    </dgm:pt>
    <dgm:pt modelId="{E0EE3CAB-4B59-4BBE-B715-0D11F9811AC9}" type="pres">
      <dgm:prSet presAssocID="{424B9F64-9E04-4543-B4CE-1C970D0EF433}" presName="Name21" presStyleCnt="0"/>
      <dgm:spPr/>
    </dgm:pt>
    <dgm:pt modelId="{D39EB154-A737-44EE-A1DC-6A1CB960D2AC}" type="pres">
      <dgm:prSet presAssocID="{424B9F64-9E04-4543-B4CE-1C970D0EF433}" presName="level2Shape" presStyleLbl="node2" presStyleIdx="1" presStyleCnt="2"/>
      <dgm:spPr/>
      <dgm:t>
        <a:bodyPr/>
        <a:lstStyle/>
        <a:p>
          <a:endParaRPr lang="en-US"/>
        </a:p>
      </dgm:t>
    </dgm:pt>
    <dgm:pt modelId="{9C6736D5-8887-41BD-B788-078023B8C875}" type="pres">
      <dgm:prSet presAssocID="{424B9F64-9E04-4543-B4CE-1C970D0EF433}" presName="hierChild3" presStyleCnt="0"/>
      <dgm:spPr/>
    </dgm:pt>
    <dgm:pt modelId="{CECDE7C4-1F6E-45D8-B5E7-FD62E4E42666}" type="pres">
      <dgm:prSet presAssocID="{230EC058-A9A8-4C86-A4E2-2ED580221BA1}" presName="Name19" presStyleLbl="parChTrans1D3" presStyleIdx="2" presStyleCnt="4"/>
      <dgm:spPr/>
      <dgm:t>
        <a:bodyPr/>
        <a:lstStyle/>
        <a:p>
          <a:endParaRPr lang="en-US"/>
        </a:p>
      </dgm:t>
    </dgm:pt>
    <dgm:pt modelId="{DCA75312-6CCA-4470-B31C-E3853138B97F}" type="pres">
      <dgm:prSet presAssocID="{EC1A0A97-E678-4976-B199-374CC09C53B1}" presName="Name21" presStyleCnt="0"/>
      <dgm:spPr/>
    </dgm:pt>
    <dgm:pt modelId="{FAB3BED9-6499-493E-A8BC-8478E153E01F}" type="pres">
      <dgm:prSet presAssocID="{EC1A0A97-E678-4976-B199-374CC09C53B1}" presName="level2Shape" presStyleLbl="node3" presStyleIdx="2" presStyleCnt="4"/>
      <dgm:spPr/>
      <dgm:t>
        <a:bodyPr/>
        <a:lstStyle/>
        <a:p>
          <a:endParaRPr lang="en-US"/>
        </a:p>
      </dgm:t>
    </dgm:pt>
    <dgm:pt modelId="{3EC2EAC3-5485-4273-99FD-5127598B7B89}" type="pres">
      <dgm:prSet presAssocID="{EC1A0A97-E678-4976-B199-374CC09C53B1}" presName="hierChild3" presStyleCnt="0"/>
      <dgm:spPr/>
    </dgm:pt>
    <dgm:pt modelId="{79EFEDD3-0869-4817-B491-CCFA922F1125}" type="pres">
      <dgm:prSet presAssocID="{FEE71A41-C586-432A-9A6C-3821598CAFCF}" presName="Name19" presStyleLbl="parChTrans1D3" presStyleIdx="3" presStyleCnt="4"/>
      <dgm:spPr/>
      <dgm:t>
        <a:bodyPr/>
        <a:lstStyle/>
        <a:p>
          <a:endParaRPr lang="en-US"/>
        </a:p>
      </dgm:t>
    </dgm:pt>
    <dgm:pt modelId="{9B1EA640-AFDB-496C-B162-94F18DCC3C8A}" type="pres">
      <dgm:prSet presAssocID="{60D47AB2-8009-409F-99A1-0F3BBEBD4A59}" presName="Name21" presStyleCnt="0"/>
      <dgm:spPr/>
    </dgm:pt>
    <dgm:pt modelId="{C74BD3FC-254B-4F46-A02A-4B2FAC9BA7B5}" type="pres">
      <dgm:prSet presAssocID="{60D47AB2-8009-409F-99A1-0F3BBEBD4A59}" presName="level2Shape" presStyleLbl="node3" presStyleIdx="3" presStyleCnt="4"/>
      <dgm:spPr/>
      <dgm:t>
        <a:bodyPr/>
        <a:lstStyle/>
        <a:p>
          <a:endParaRPr lang="en-US"/>
        </a:p>
      </dgm:t>
    </dgm:pt>
    <dgm:pt modelId="{90358EE1-60D9-4432-8CF0-6E9427C245C1}" type="pres">
      <dgm:prSet presAssocID="{60D47AB2-8009-409F-99A1-0F3BBEBD4A59}" presName="hierChild3" presStyleCnt="0"/>
      <dgm:spPr/>
    </dgm:pt>
    <dgm:pt modelId="{25B3601F-468D-4628-A4A2-16A33DD96A3E}" type="pres">
      <dgm:prSet presAssocID="{8DF444B8-5CF9-43BD-88DE-F7871762405B}" presName="bgShapesFlow" presStyleCnt="0"/>
      <dgm:spPr/>
    </dgm:pt>
  </dgm:ptLst>
  <dgm:cxnLst>
    <dgm:cxn modelId="{78BE51CE-67C0-4984-9ADB-3ECC6DACDCF7}" srcId="{424B9F64-9E04-4543-B4CE-1C970D0EF433}" destId="{EC1A0A97-E678-4976-B199-374CC09C53B1}" srcOrd="0" destOrd="0" parTransId="{230EC058-A9A8-4C86-A4E2-2ED580221BA1}" sibTransId="{CE7DD692-DFA3-4473-A284-0E059ADC0935}"/>
    <dgm:cxn modelId="{8C5BA587-3914-4F85-A3AB-AE4D8EAE062F}" srcId="{6FA1E2C8-2232-4CF4-BA28-1EFF232C1F65}" destId="{F9DABA6A-E3FA-4741-A801-360D3B5878BC}" srcOrd="1" destOrd="0" parTransId="{A49DC4DF-26E0-4CB2-9AC5-C15F38497F43}" sibTransId="{1BDB7E4F-307E-4AE4-915B-BED802B945A4}"/>
    <dgm:cxn modelId="{2A59AB65-EFD5-421F-9CFF-720DA5895B32}" type="presOf" srcId="{230EC058-A9A8-4C86-A4E2-2ED580221BA1}" destId="{CECDE7C4-1F6E-45D8-B5E7-FD62E4E42666}" srcOrd="0" destOrd="0" presId="urn:microsoft.com/office/officeart/2005/8/layout/hierarchy6"/>
    <dgm:cxn modelId="{3E1F98E0-CE37-4461-A904-00649224F5AA}" srcId="{424B9F64-9E04-4543-B4CE-1C970D0EF433}" destId="{60D47AB2-8009-409F-99A1-0F3BBEBD4A59}" srcOrd="1" destOrd="0" parTransId="{FEE71A41-C586-432A-9A6C-3821598CAFCF}" sibTransId="{7DD89622-D02E-46C1-B446-7623FA7FA0F8}"/>
    <dgm:cxn modelId="{2EB03123-F308-4EED-83AD-CA7118FFE87B}" srcId="{A1B2CC63-AF9B-4F14-9B90-6A4F96586986}" destId="{6FA1E2C8-2232-4CF4-BA28-1EFF232C1F65}" srcOrd="0" destOrd="0" parTransId="{5B9762E6-E904-41C0-93F7-567B52CF6B57}" sibTransId="{5549A84D-5B37-4D00-BFE4-54A3726043C0}"/>
    <dgm:cxn modelId="{DFB8BCAA-DFD5-4E2A-AAB9-8CD3DB15B5B4}" type="presOf" srcId="{A49DC4DF-26E0-4CB2-9AC5-C15F38497F43}" destId="{1D1A018B-CBAA-47C5-BB58-09984A5A7619}" srcOrd="0" destOrd="0" presId="urn:microsoft.com/office/officeart/2005/8/layout/hierarchy6"/>
    <dgm:cxn modelId="{F3EE5E87-987D-45FA-BF08-ED547FC5C5FA}" srcId="{8DF444B8-5CF9-43BD-88DE-F7871762405B}" destId="{A1B2CC63-AF9B-4F14-9B90-6A4F96586986}" srcOrd="0" destOrd="0" parTransId="{A63DC527-433F-4DB9-821F-709B528F955B}" sibTransId="{E1937142-D8AD-4B54-A764-0DE0B078E4A4}"/>
    <dgm:cxn modelId="{EAC94286-CE9E-4CEC-8CF9-56945FD964FE}" type="presOf" srcId="{EC1A0A97-E678-4976-B199-374CC09C53B1}" destId="{FAB3BED9-6499-493E-A8BC-8478E153E01F}" srcOrd="0" destOrd="0" presId="urn:microsoft.com/office/officeart/2005/8/layout/hierarchy6"/>
    <dgm:cxn modelId="{B162F5AD-52D1-4E23-B598-1860013BCF09}" type="presOf" srcId="{60D47AB2-8009-409F-99A1-0F3BBEBD4A59}" destId="{C74BD3FC-254B-4F46-A02A-4B2FAC9BA7B5}" srcOrd="0" destOrd="0" presId="urn:microsoft.com/office/officeart/2005/8/layout/hierarchy6"/>
    <dgm:cxn modelId="{253F314C-574F-4072-9ECA-49D83C4EC9FC}" type="presOf" srcId="{5B9762E6-E904-41C0-93F7-567B52CF6B57}" destId="{8BD67FB6-9A8F-4F0E-B5A0-A4BDE9C19572}" srcOrd="0" destOrd="0" presId="urn:microsoft.com/office/officeart/2005/8/layout/hierarchy6"/>
    <dgm:cxn modelId="{3A75C0D7-741A-43E0-B436-A53C32465136}" type="presOf" srcId="{424B9F64-9E04-4543-B4CE-1C970D0EF433}" destId="{D39EB154-A737-44EE-A1DC-6A1CB960D2AC}" srcOrd="0" destOrd="0" presId="urn:microsoft.com/office/officeart/2005/8/layout/hierarchy6"/>
    <dgm:cxn modelId="{6C9A1EC4-6013-4E69-921A-BBAC091F7BE1}" type="presOf" srcId="{44DF84F5-DB93-4D20-AF3D-8894C47717B8}" destId="{FD81F746-7C40-4A9D-82C3-FE4BA0DDBB98}" srcOrd="0" destOrd="0" presId="urn:microsoft.com/office/officeart/2005/8/layout/hierarchy6"/>
    <dgm:cxn modelId="{C22FD59D-7262-47B3-A4A2-15E2CA3B87C6}" type="presOf" srcId="{2A52C008-2685-449C-9662-DAFF56A9E6F8}" destId="{6881DF5A-0746-4793-81F7-23CC81278073}" srcOrd="0" destOrd="0" presId="urn:microsoft.com/office/officeart/2005/8/layout/hierarchy6"/>
    <dgm:cxn modelId="{1F683545-746B-4571-A4E8-9573144C6BDC}" type="presOf" srcId="{FEE71A41-C586-432A-9A6C-3821598CAFCF}" destId="{79EFEDD3-0869-4817-B491-CCFA922F1125}" srcOrd="0" destOrd="0" presId="urn:microsoft.com/office/officeart/2005/8/layout/hierarchy6"/>
    <dgm:cxn modelId="{2B383C8C-BD5B-4E3B-9B87-915136AF7692}" type="presOf" srcId="{A1B2CC63-AF9B-4F14-9B90-6A4F96586986}" destId="{30FC7E6B-0627-474B-BF73-BA4A7A1555DF}" srcOrd="0" destOrd="0" presId="urn:microsoft.com/office/officeart/2005/8/layout/hierarchy6"/>
    <dgm:cxn modelId="{7B6BDD45-29A0-4934-B1CC-8900678194F9}" type="presOf" srcId="{F9DABA6A-E3FA-4741-A801-360D3B5878BC}" destId="{0252B009-B169-44C3-BD8A-C8C829AF8972}" srcOrd="0" destOrd="0" presId="urn:microsoft.com/office/officeart/2005/8/layout/hierarchy6"/>
    <dgm:cxn modelId="{FA3A4B33-DE3F-4160-A2B8-6C0941D0D118}" srcId="{6FA1E2C8-2232-4CF4-BA28-1EFF232C1F65}" destId="{2A52C008-2685-449C-9662-DAFF56A9E6F8}" srcOrd="0" destOrd="0" parTransId="{9799DB4D-C2A4-4ED7-98B0-6369A184C87A}" sibTransId="{E3D27084-E807-45F9-BAEF-E1783DDAD52C}"/>
    <dgm:cxn modelId="{4E857CF6-6695-49EB-8E54-39A3016F1CEF}" type="presOf" srcId="{6FA1E2C8-2232-4CF4-BA28-1EFF232C1F65}" destId="{B77C3440-95FB-48D8-910E-013CED511044}" srcOrd="0" destOrd="0" presId="urn:microsoft.com/office/officeart/2005/8/layout/hierarchy6"/>
    <dgm:cxn modelId="{8BEEC0D7-F837-4826-847D-D57DDE3D54FB}" srcId="{A1B2CC63-AF9B-4F14-9B90-6A4F96586986}" destId="{424B9F64-9E04-4543-B4CE-1C970D0EF433}" srcOrd="1" destOrd="0" parTransId="{44DF84F5-DB93-4D20-AF3D-8894C47717B8}" sibTransId="{2D08155E-B69C-4A1D-9750-E8B20215AC7A}"/>
    <dgm:cxn modelId="{6484DD3B-96F8-4399-A478-0334005A8DAA}" type="presOf" srcId="{9799DB4D-C2A4-4ED7-98B0-6369A184C87A}" destId="{EA0D8F52-8A70-47D4-8B3F-3F0BB21A99B9}" srcOrd="0" destOrd="0" presId="urn:microsoft.com/office/officeart/2005/8/layout/hierarchy6"/>
    <dgm:cxn modelId="{A3A2773F-CBA7-4F0A-AE02-A835DD8C18CC}" type="presOf" srcId="{8DF444B8-5CF9-43BD-88DE-F7871762405B}" destId="{E395F30B-E830-488F-B57D-CC7042A0B9A3}" srcOrd="0" destOrd="0" presId="urn:microsoft.com/office/officeart/2005/8/layout/hierarchy6"/>
    <dgm:cxn modelId="{8B1D48CD-1B88-4FDF-98D8-8B27DC1F36EE}" type="presParOf" srcId="{E395F30B-E830-488F-B57D-CC7042A0B9A3}" destId="{4B708ADB-FD9B-4CFC-B941-4090D313C1A2}" srcOrd="0" destOrd="0" presId="urn:microsoft.com/office/officeart/2005/8/layout/hierarchy6"/>
    <dgm:cxn modelId="{7FC9CB7A-BF23-49FC-A97A-FBAC6B4B513D}" type="presParOf" srcId="{4B708ADB-FD9B-4CFC-B941-4090D313C1A2}" destId="{3FC12A77-3796-46DF-9356-285F7E7729C8}" srcOrd="0" destOrd="0" presId="urn:microsoft.com/office/officeart/2005/8/layout/hierarchy6"/>
    <dgm:cxn modelId="{9ADCDE2B-482E-41DA-8B72-03379237A6BF}" type="presParOf" srcId="{3FC12A77-3796-46DF-9356-285F7E7729C8}" destId="{EFEE10F7-2A82-4BB0-9913-3811DE62EC7F}" srcOrd="0" destOrd="0" presId="urn:microsoft.com/office/officeart/2005/8/layout/hierarchy6"/>
    <dgm:cxn modelId="{487D0D0A-381D-427D-80CC-DEB72EFB2218}" type="presParOf" srcId="{EFEE10F7-2A82-4BB0-9913-3811DE62EC7F}" destId="{30FC7E6B-0627-474B-BF73-BA4A7A1555DF}" srcOrd="0" destOrd="0" presId="urn:microsoft.com/office/officeart/2005/8/layout/hierarchy6"/>
    <dgm:cxn modelId="{8DB0E4E3-ACA0-4653-9AD7-6C5C63597734}" type="presParOf" srcId="{EFEE10F7-2A82-4BB0-9913-3811DE62EC7F}" destId="{837E7404-25F9-4DA0-8781-683588436FC1}" srcOrd="1" destOrd="0" presId="urn:microsoft.com/office/officeart/2005/8/layout/hierarchy6"/>
    <dgm:cxn modelId="{B10AA30E-24CA-4497-A836-F65D183A3D0D}" type="presParOf" srcId="{837E7404-25F9-4DA0-8781-683588436FC1}" destId="{8BD67FB6-9A8F-4F0E-B5A0-A4BDE9C19572}" srcOrd="0" destOrd="0" presId="urn:microsoft.com/office/officeart/2005/8/layout/hierarchy6"/>
    <dgm:cxn modelId="{181BB4BA-2DE1-4718-9B2F-F3BF4D04374E}" type="presParOf" srcId="{837E7404-25F9-4DA0-8781-683588436FC1}" destId="{B0C7EEA6-1FB9-4CBD-BD79-6308D818C4A2}" srcOrd="1" destOrd="0" presId="urn:microsoft.com/office/officeart/2005/8/layout/hierarchy6"/>
    <dgm:cxn modelId="{0727F7C5-FCA4-48AB-BBC2-DA68A0D20A28}" type="presParOf" srcId="{B0C7EEA6-1FB9-4CBD-BD79-6308D818C4A2}" destId="{B77C3440-95FB-48D8-910E-013CED511044}" srcOrd="0" destOrd="0" presId="urn:microsoft.com/office/officeart/2005/8/layout/hierarchy6"/>
    <dgm:cxn modelId="{EB4D2BE4-72FD-4F84-8DF4-A2F1EF8A15F6}" type="presParOf" srcId="{B0C7EEA6-1FB9-4CBD-BD79-6308D818C4A2}" destId="{936C3651-BD6E-4222-8E00-5E2ABDAECE45}" srcOrd="1" destOrd="0" presId="urn:microsoft.com/office/officeart/2005/8/layout/hierarchy6"/>
    <dgm:cxn modelId="{E942A0A7-F774-4E72-80AD-68F57A39D934}" type="presParOf" srcId="{936C3651-BD6E-4222-8E00-5E2ABDAECE45}" destId="{EA0D8F52-8A70-47D4-8B3F-3F0BB21A99B9}" srcOrd="0" destOrd="0" presId="urn:microsoft.com/office/officeart/2005/8/layout/hierarchy6"/>
    <dgm:cxn modelId="{A562AA33-8B8F-4319-BA74-B37486D9DDA6}" type="presParOf" srcId="{936C3651-BD6E-4222-8E00-5E2ABDAECE45}" destId="{3FAC69FE-3DBD-4368-9199-05A3736E0B61}" srcOrd="1" destOrd="0" presId="urn:microsoft.com/office/officeart/2005/8/layout/hierarchy6"/>
    <dgm:cxn modelId="{D97FB1DB-59A8-478E-AC88-74ACE6C57439}" type="presParOf" srcId="{3FAC69FE-3DBD-4368-9199-05A3736E0B61}" destId="{6881DF5A-0746-4793-81F7-23CC81278073}" srcOrd="0" destOrd="0" presId="urn:microsoft.com/office/officeart/2005/8/layout/hierarchy6"/>
    <dgm:cxn modelId="{BC828D9A-4FF8-499C-A9D3-71BDA9D7D95E}" type="presParOf" srcId="{3FAC69FE-3DBD-4368-9199-05A3736E0B61}" destId="{DAC9C86D-A7DC-4FCA-AE4D-4752A04B0400}" srcOrd="1" destOrd="0" presId="urn:microsoft.com/office/officeart/2005/8/layout/hierarchy6"/>
    <dgm:cxn modelId="{6D21FF1A-8B85-4F28-90D7-2CCB21DD45B1}" type="presParOf" srcId="{936C3651-BD6E-4222-8E00-5E2ABDAECE45}" destId="{1D1A018B-CBAA-47C5-BB58-09984A5A7619}" srcOrd="2" destOrd="0" presId="urn:microsoft.com/office/officeart/2005/8/layout/hierarchy6"/>
    <dgm:cxn modelId="{9C902740-5D03-4D61-B059-F4DA56C351E3}" type="presParOf" srcId="{936C3651-BD6E-4222-8E00-5E2ABDAECE45}" destId="{A0503CE8-E2AE-486B-A70F-0BD1A6C7770C}" srcOrd="3" destOrd="0" presId="urn:microsoft.com/office/officeart/2005/8/layout/hierarchy6"/>
    <dgm:cxn modelId="{A0D94F33-D59B-4151-B144-469870558AF3}" type="presParOf" srcId="{A0503CE8-E2AE-486B-A70F-0BD1A6C7770C}" destId="{0252B009-B169-44C3-BD8A-C8C829AF8972}" srcOrd="0" destOrd="0" presId="urn:microsoft.com/office/officeart/2005/8/layout/hierarchy6"/>
    <dgm:cxn modelId="{54A9D9C8-8D03-4953-BB63-B9C1C04A8654}" type="presParOf" srcId="{A0503CE8-E2AE-486B-A70F-0BD1A6C7770C}" destId="{EC78920A-6713-4886-8EBA-D74C59890BD5}" srcOrd="1" destOrd="0" presId="urn:microsoft.com/office/officeart/2005/8/layout/hierarchy6"/>
    <dgm:cxn modelId="{A34B3000-B27F-4D4A-B3CB-8FFE4B171FA2}" type="presParOf" srcId="{837E7404-25F9-4DA0-8781-683588436FC1}" destId="{FD81F746-7C40-4A9D-82C3-FE4BA0DDBB98}" srcOrd="2" destOrd="0" presId="urn:microsoft.com/office/officeart/2005/8/layout/hierarchy6"/>
    <dgm:cxn modelId="{4E99CB4F-067F-4651-8782-8B90D3C33F6A}" type="presParOf" srcId="{837E7404-25F9-4DA0-8781-683588436FC1}" destId="{E0EE3CAB-4B59-4BBE-B715-0D11F9811AC9}" srcOrd="3" destOrd="0" presId="urn:microsoft.com/office/officeart/2005/8/layout/hierarchy6"/>
    <dgm:cxn modelId="{989E2EB8-9AFF-4449-B2AA-5FAA9DA4EA16}" type="presParOf" srcId="{E0EE3CAB-4B59-4BBE-B715-0D11F9811AC9}" destId="{D39EB154-A737-44EE-A1DC-6A1CB960D2AC}" srcOrd="0" destOrd="0" presId="urn:microsoft.com/office/officeart/2005/8/layout/hierarchy6"/>
    <dgm:cxn modelId="{051160F8-C809-48F5-9C46-2DC0422D735A}" type="presParOf" srcId="{E0EE3CAB-4B59-4BBE-B715-0D11F9811AC9}" destId="{9C6736D5-8887-41BD-B788-078023B8C875}" srcOrd="1" destOrd="0" presId="urn:microsoft.com/office/officeart/2005/8/layout/hierarchy6"/>
    <dgm:cxn modelId="{73F61A4A-E0AB-4748-A8E9-DAFCC64B3A8E}" type="presParOf" srcId="{9C6736D5-8887-41BD-B788-078023B8C875}" destId="{CECDE7C4-1F6E-45D8-B5E7-FD62E4E42666}" srcOrd="0" destOrd="0" presId="urn:microsoft.com/office/officeart/2005/8/layout/hierarchy6"/>
    <dgm:cxn modelId="{A8953CC6-5AB2-4269-B735-7E0537D60417}" type="presParOf" srcId="{9C6736D5-8887-41BD-B788-078023B8C875}" destId="{DCA75312-6CCA-4470-B31C-E3853138B97F}" srcOrd="1" destOrd="0" presId="urn:microsoft.com/office/officeart/2005/8/layout/hierarchy6"/>
    <dgm:cxn modelId="{4292C06F-B649-44AE-B750-CC515A6612EF}" type="presParOf" srcId="{DCA75312-6CCA-4470-B31C-E3853138B97F}" destId="{FAB3BED9-6499-493E-A8BC-8478E153E01F}" srcOrd="0" destOrd="0" presId="urn:microsoft.com/office/officeart/2005/8/layout/hierarchy6"/>
    <dgm:cxn modelId="{F6301A5A-DD82-415C-BDE8-360BB3EB3434}" type="presParOf" srcId="{DCA75312-6CCA-4470-B31C-E3853138B97F}" destId="{3EC2EAC3-5485-4273-99FD-5127598B7B89}" srcOrd="1" destOrd="0" presId="urn:microsoft.com/office/officeart/2005/8/layout/hierarchy6"/>
    <dgm:cxn modelId="{2F6D0F5F-8AB7-4351-A203-36F3D5EC0786}" type="presParOf" srcId="{9C6736D5-8887-41BD-B788-078023B8C875}" destId="{79EFEDD3-0869-4817-B491-CCFA922F1125}" srcOrd="2" destOrd="0" presId="urn:microsoft.com/office/officeart/2005/8/layout/hierarchy6"/>
    <dgm:cxn modelId="{23F782E5-4457-4AFE-A33F-965B1519D87C}" type="presParOf" srcId="{9C6736D5-8887-41BD-B788-078023B8C875}" destId="{9B1EA640-AFDB-496C-B162-94F18DCC3C8A}" srcOrd="3" destOrd="0" presId="urn:microsoft.com/office/officeart/2005/8/layout/hierarchy6"/>
    <dgm:cxn modelId="{E2B0BE15-189D-449F-B165-C24ECC696BE1}" type="presParOf" srcId="{9B1EA640-AFDB-496C-B162-94F18DCC3C8A}" destId="{C74BD3FC-254B-4F46-A02A-4B2FAC9BA7B5}" srcOrd="0" destOrd="0" presId="urn:microsoft.com/office/officeart/2005/8/layout/hierarchy6"/>
    <dgm:cxn modelId="{2F317A25-EE78-4B26-B0B9-F02ECF44CD6D}" type="presParOf" srcId="{9B1EA640-AFDB-496C-B162-94F18DCC3C8A}" destId="{90358EE1-60D9-4432-8CF0-6E9427C245C1}" srcOrd="1" destOrd="0" presId="urn:microsoft.com/office/officeart/2005/8/layout/hierarchy6"/>
    <dgm:cxn modelId="{37DE7FBE-AE91-4C04-9A89-64B8E45A0E87}" type="presParOf" srcId="{E395F30B-E830-488F-B57D-CC7042A0B9A3}" destId="{25B3601F-468D-4628-A4A2-16A33DD96A3E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C6CFC9-33F0-4448-AC7C-8C028A0512C5}" type="doc">
      <dgm:prSet loTypeId="urn:diagrams.loki3.com/Bracket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EE1E7F2-E60C-4515-9956-B6CDFFF9269F}">
      <dgm:prSet phldrT="[Text]"/>
      <dgm:spPr/>
      <dgm:t>
        <a:bodyPr/>
        <a:lstStyle/>
        <a:p>
          <a:r>
            <a:rPr lang="en-US" dirty="0" smtClean="0"/>
            <a:t>Text classification</a:t>
          </a:r>
          <a:endParaRPr lang="en-US" dirty="0"/>
        </a:p>
      </dgm:t>
    </dgm:pt>
    <dgm:pt modelId="{88F0994D-2F2C-402F-906B-92C8009AF819}" type="parTrans" cxnId="{31823ED1-83C2-4FD9-8223-6031133855D2}">
      <dgm:prSet/>
      <dgm:spPr/>
      <dgm:t>
        <a:bodyPr/>
        <a:lstStyle/>
        <a:p>
          <a:endParaRPr lang="en-US"/>
        </a:p>
      </dgm:t>
    </dgm:pt>
    <dgm:pt modelId="{E0D97AE5-0A18-4D5E-9559-2BB56DFF1BA2}" type="sibTrans" cxnId="{31823ED1-83C2-4FD9-8223-6031133855D2}">
      <dgm:prSet/>
      <dgm:spPr/>
      <dgm:t>
        <a:bodyPr/>
        <a:lstStyle/>
        <a:p>
          <a:endParaRPr lang="en-US"/>
        </a:p>
      </dgm:t>
    </dgm:pt>
    <dgm:pt modelId="{E6816966-B352-456C-8FAD-942720B96C6F}">
      <dgm:prSet phldrT="[Text]"/>
      <dgm:spPr/>
      <dgm:t>
        <a:bodyPr/>
        <a:lstStyle/>
        <a:p>
          <a:r>
            <a:rPr lang="el-GR" dirty="0" smtClean="0"/>
            <a:t>Σύγκριση αλγορίθμων</a:t>
          </a:r>
          <a:endParaRPr lang="en-US" dirty="0"/>
        </a:p>
      </dgm:t>
    </dgm:pt>
    <dgm:pt modelId="{A4320E70-D7CF-47C3-93AA-42AE64EEC762}" type="parTrans" cxnId="{6E739763-7367-4B02-BF35-3FED4669169E}">
      <dgm:prSet/>
      <dgm:spPr/>
      <dgm:t>
        <a:bodyPr/>
        <a:lstStyle/>
        <a:p>
          <a:endParaRPr lang="en-US"/>
        </a:p>
      </dgm:t>
    </dgm:pt>
    <dgm:pt modelId="{8C0B0230-86B3-4C97-B1DB-16FBEF40F507}" type="sibTrans" cxnId="{6E739763-7367-4B02-BF35-3FED4669169E}">
      <dgm:prSet/>
      <dgm:spPr/>
      <dgm:t>
        <a:bodyPr/>
        <a:lstStyle/>
        <a:p>
          <a:endParaRPr lang="en-US"/>
        </a:p>
      </dgm:t>
    </dgm:pt>
    <dgm:pt modelId="{1EDA70CD-2EFD-4E92-852D-EFBD9C79974E}">
      <dgm:prSet phldrT="[Text]"/>
      <dgm:spPr/>
      <dgm:t>
        <a:bodyPr/>
        <a:lstStyle/>
        <a:p>
          <a:r>
            <a:rPr lang="en-US" dirty="0" smtClean="0"/>
            <a:t>Titanic </a:t>
          </a:r>
          <a:endParaRPr lang="en-US" dirty="0"/>
        </a:p>
      </dgm:t>
    </dgm:pt>
    <dgm:pt modelId="{6F551F5B-F8EC-46E8-AD23-F3B9AB59DE7A}" type="parTrans" cxnId="{C91768C5-F360-4B4D-BD07-84DB9CF3E914}">
      <dgm:prSet/>
      <dgm:spPr/>
      <dgm:t>
        <a:bodyPr/>
        <a:lstStyle/>
        <a:p>
          <a:endParaRPr lang="en-US"/>
        </a:p>
      </dgm:t>
    </dgm:pt>
    <dgm:pt modelId="{B7300E24-2337-40DA-BBB4-3B86E270B90D}" type="sibTrans" cxnId="{C91768C5-F360-4B4D-BD07-84DB9CF3E914}">
      <dgm:prSet/>
      <dgm:spPr/>
      <dgm:t>
        <a:bodyPr/>
        <a:lstStyle/>
        <a:p>
          <a:endParaRPr lang="en-US"/>
        </a:p>
      </dgm:t>
    </dgm:pt>
    <dgm:pt modelId="{578DA9EC-C979-40F3-B971-70D1F025A882}">
      <dgm:prSet phldrT="[Text]"/>
      <dgm:spPr/>
      <dgm:t>
        <a:bodyPr/>
        <a:lstStyle/>
        <a:p>
          <a:r>
            <a:rPr lang="el-GR" dirty="0" smtClean="0"/>
            <a:t>Πρόβλεψη επιβίωσης </a:t>
          </a:r>
          <a:r>
            <a:rPr lang="en-US" dirty="0" smtClean="0">
              <a:hlinkClick xmlns:r="http://schemas.openxmlformats.org/officeDocument/2006/relationships" r:id="rId1"/>
            </a:rPr>
            <a:t>https://www.kaggle.com/code/alexisbcook/titanic-tutorial</a:t>
          </a:r>
          <a:endParaRPr lang="en-US" dirty="0"/>
        </a:p>
      </dgm:t>
    </dgm:pt>
    <dgm:pt modelId="{F239E3DF-9E52-46D2-B65F-B30A2C426BFC}" type="parTrans" cxnId="{0017091A-6BC7-4178-8066-5658B92A484B}">
      <dgm:prSet/>
      <dgm:spPr/>
      <dgm:t>
        <a:bodyPr/>
        <a:lstStyle/>
        <a:p>
          <a:endParaRPr lang="en-US"/>
        </a:p>
      </dgm:t>
    </dgm:pt>
    <dgm:pt modelId="{7C7BF044-7372-410F-A591-EDE140811C9C}" type="sibTrans" cxnId="{0017091A-6BC7-4178-8066-5658B92A484B}">
      <dgm:prSet/>
      <dgm:spPr/>
      <dgm:t>
        <a:bodyPr/>
        <a:lstStyle/>
        <a:p>
          <a:endParaRPr lang="en-US"/>
        </a:p>
      </dgm:t>
    </dgm:pt>
    <dgm:pt modelId="{06CA1319-8E8C-499B-9CA9-D19B764E774D}" type="pres">
      <dgm:prSet presAssocID="{D7C6CFC9-33F0-4448-AC7C-8C028A0512C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45AC847-9B31-4474-ABE4-8C6D5C7AF82B}" type="pres">
      <dgm:prSet presAssocID="{CEE1E7F2-E60C-4515-9956-B6CDFFF9269F}" presName="linNode" presStyleCnt="0"/>
      <dgm:spPr/>
    </dgm:pt>
    <dgm:pt modelId="{A40F53EB-6716-4A69-84A0-B32621B46045}" type="pres">
      <dgm:prSet presAssocID="{CEE1E7F2-E60C-4515-9956-B6CDFFF9269F}" presName="parTx" presStyleLbl="revTx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1F0BB4-65F9-4B86-B4F2-9A073FBFEE04}" type="pres">
      <dgm:prSet presAssocID="{CEE1E7F2-E60C-4515-9956-B6CDFFF9269F}" presName="bracket" presStyleLbl="parChTrans1D1" presStyleIdx="0" presStyleCnt="2"/>
      <dgm:spPr/>
    </dgm:pt>
    <dgm:pt modelId="{8DFE27C4-A5D2-4AC5-B8B1-2EC227BC5B14}" type="pres">
      <dgm:prSet presAssocID="{CEE1E7F2-E60C-4515-9956-B6CDFFF9269F}" presName="spH" presStyleCnt="0"/>
      <dgm:spPr/>
    </dgm:pt>
    <dgm:pt modelId="{A5D9142A-F1F5-426D-BCD0-083B663360C0}" type="pres">
      <dgm:prSet presAssocID="{CEE1E7F2-E60C-4515-9956-B6CDFFF9269F}" presName="desTx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2AAC49-B36F-4A43-8F9E-C0A1E88040CF}" type="pres">
      <dgm:prSet presAssocID="{E0D97AE5-0A18-4D5E-9559-2BB56DFF1BA2}" presName="spV" presStyleCnt="0"/>
      <dgm:spPr/>
    </dgm:pt>
    <dgm:pt modelId="{7D061D4F-9BA8-4A45-B87A-176FE77A3B51}" type="pres">
      <dgm:prSet presAssocID="{1EDA70CD-2EFD-4E92-852D-EFBD9C79974E}" presName="linNode" presStyleCnt="0"/>
      <dgm:spPr/>
    </dgm:pt>
    <dgm:pt modelId="{C32D2C43-1C99-43D6-A496-5C7B16B4A9F7}" type="pres">
      <dgm:prSet presAssocID="{1EDA70CD-2EFD-4E92-852D-EFBD9C79974E}" presName="parTx" presStyleLbl="revTx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0E3B43-301F-4D27-8335-E7755B667AB7}" type="pres">
      <dgm:prSet presAssocID="{1EDA70CD-2EFD-4E92-852D-EFBD9C79974E}" presName="bracket" presStyleLbl="parChTrans1D1" presStyleIdx="1" presStyleCnt="2"/>
      <dgm:spPr/>
    </dgm:pt>
    <dgm:pt modelId="{61348976-7D39-461C-A1A5-FB31E55FF53B}" type="pres">
      <dgm:prSet presAssocID="{1EDA70CD-2EFD-4E92-852D-EFBD9C79974E}" presName="spH" presStyleCnt="0"/>
      <dgm:spPr/>
    </dgm:pt>
    <dgm:pt modelId="{B10FFB9E-9989-4D5A-8B46-74BFB6716C46}" type="pres">
      <dgm:prSet presAssocID="{1EDA70CD-2EFD-4E92-852D-EFBD9C79974E}" presName="desTx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7D44ACC-EBD2-4ED8-AE43-68357D6FD719}" type="presOf" srcId="{CEE1E7F2-E60C-4515-9956-B6CDFFF9269F}" destId="{A40F53EB-6716-4A69-84A0-B32621B46045}" srcOrd="0" destOrd="0" presId="urn:diagrams.loki3.com/BracketList"/>
    <dgm:cxn modelId="{B962CF08-FE44-4E7E-957F-CA0E9665899D}" type="presOf" srcId="{E6816966-B352-456C-8FAD-942720B96C6F}" destId="{A5D9142A-F1F5-426D-BCD0-083B663360C0}" srcOrd="0" destOrd="0" presId="urn:diagrams.loki3.com/BracketList"/>
    <dgm:cxn modelId="{0017091A-6BC7-4178-8066-5658B92A484B}" srcId="{1EDA70CD-2EFD-4E92-852D-EFBD9C79974E}" destId="{578DA9EC-C979-40F3-B971-70D1F025A882}" srcOrd="0" destOrd="0" parTransId="{F239E3DF-9E52-46D2-B65F-B30A2C426BFC}" sibTransId="{7C7BF044-7372-410F-A591-EDE140811C9C}"/>
    <dgm:cxn modelId="{C91768C5-F360-4B4D-BD07-84DB9CF3E914}" srcId="{D7C6CFC9-33F0-4448-AC7C-8C028A0512C5}" destId="{1EDA70CD-2EFD-4E92-852D-EFBD9C79974E}" srcOrd="1" destOrd="0" parTransId="{6F551F5B-F8EC-46E8-AD23-F3B9AB59DE7A}" sibTransId="{B7300E24-2337-40DA-BBB4-3B86E270B90D}"/>
    <dgm:cxn modelId="{6E739763-7367-4B02-BF35-3FED4669169E}" srcId="{CEE1E7F2-E60C-4515-9956-B6CDFFF9269F}" destId="{E6816966-B352-456C-8FAD-942720B96C6F}" srcOrd="0" destOrd="0" parTransId="{A4320E70-D7CF-47C3-93AA-42AE64EEC762}" sibTransId="{8C0B0230-86B3-4C97-B1DB-16FBEF40F507}"/>
    <dgm:cxn modelId="{C5872FF9-0251-4D66-AED2-88144BBA3345}" type="presOf" srcId="{578DA9EC-C979-40F3-B971-70D1F025A882}" destId="{B10FFB9E-9989-4D5A-8B46-74BFB6716C46}" srcOrd="0" destOrd="0" presId="urn:diagrams.loki3.com/BracketList"/>
    <dgm:cxn modelId="{09935EB0-54A8-4F06-A381-C40FC159C714}" type="presOf" srcId="{D7C6CFC9-33F0-4448-AC7C-8C028A0512C5}" destId="{06CA1319-8E8C-499B-9CA9-D19B764E774D}" srcOrd="0" destOrd="0" presId="urn:diagrams.loki3.com/BracketList"/>
    <dgm:cxn modelId="{242C21D6-FCF8-4B09-8CCB-F803D7FEA329}" type="presOf" srcId="{1EDA70CD-2EFD-4E92-852D-EFBD9C79974E}" destId="{C32D2C43-1C99-43D6-A496-5C7B16B4A9F7}" srcOrd="0" destOrd="0" presId="urn:diagrams.loki3.com/BracketList"/>
    <dgm:cxn modelId="{31823ED1-83C2-4FD9-8223-6031133855D2}" srcId="{D7C6CFC9-33F0-4448-AC7C-8C028A0512C5}" destId="{CEE1E7F2-E60C-4515-9956-B6CDFFF9269F}" srcOrd="0" destOrd="0" parTransId="{88F0994D-2F2C-402F-906B-92C8009AF819}" sibTransId="{E0D97AE5-0A18-4D5E-9559-2BB56DFF1BA2}"/>
    <dgm:cxn modelId="{5B8AC41B-FF46-4103-BBAB-B2FAD40025F3}" type="presParOf" srcId="{06CA1319-8E8C-499B-9CA9-D19B764E774D}" destId="{C45AC847-9B31-4474-ABE4-8C6D5C7AF82B}" srcOrd="0" destOrd="0" presId="urn:diagrams.loki3.com/BracketList"/>
    <dgm:cxn modelId="{67CD8E4A-CA25-4008-B983-6346E0B4C318}" type="presParOf" srcId="{C45AC847-9B31-4474-ABE4-8C6D5C7AF82B}" destId="{A40F53EB-6716-4A69-84A0-B32621B46045}" srcOrd="0" destOrd="0" presId="urn:diagrams.loki3.com/BracketList"/>
    <dgm:cxn modelId="{4BEAC134-C4B7-4B8D-896B-C9AD64039B16}" type="presParOf" srcId="{C45AC847-9B31-4474-ABE4-8C6D5C7AF82B}" destId="{881F0BB4-65F9-4B86-B4F2-9A073FBFEE04}" srcOrd="1" destOrd="0" presId="urn:diagrams.loki3.com/BracketList"/>
    <dgm:cxn modelId="{5FBF6721-0A49-452B-A83B-C558095195FF}" type="presParOf" srcId="{C45AC847-9B31-4474-ABE4-8C6D5C7AF82B}" destId="{8DFE27C4-A5D2-4AC5-B8B1-2EC227BC5B14}" srcOrd="2" destOrd="0" presId="urn:diagrams.loki3.com/BracketList"/>
    <dgm:cxn modelId="{B4F64E54-5D49-4C87-8334-6EB889271469}" type="presParOf" srcId="{C45AC847-9B31-4474-ABE4-8C6D5C7AF82B}" destId="{A5D9142A-F1F5-426D-BCD0-083B663360C0}" srcOrd="3" destOrd="0" presId="urn:diagrams.loki3.com/BracketList"/>
    <dgm:cxn modelId="{9357101D-A8EF-4E7F-91B9-65056068E5F1}" type="presParOf" srcId="{06CA1319-8E8C-499B-9CA9-D19B764E774D}" destId="{022AAC49-B36F-4A43-8F9E-C0A1E88040CF}" srcOrd="1" destOrd="0" presId="urn:diagrams.loki3.com/BracketList"/>
    <dgm:cxn modelId="{03567A00-E156-4988-9905-7C63CABC1C50}" type="presParOf" srcId="{06CA1319-8E8C-499B-9CA9-D19B764E774D}" destId="{7D061D4F-9BA8-4A45-B87A-176FE77A3B51}" srcOrd="2" destOrd="0" presId="urn:diagrams.loki3.com/BracketList"/>
    <dgm:cxn modelId="{25598B52-4DC7-4624-B151-C44ED7A6131A}" type="presParOf" srcId="{7D061D4F-9BA8-4A45-B87A-176FE77A3B51}" destId="{C32D2C43-1C99-43D6-A496-5C7B16B4A9F7}" srcOrd="0" destOrd="0" presId="urn:diagrams.loki3.com/BracketList"/>
    <dgm:cxn modelId="{BF86E5AD-0FF2-4DFE-BD0C-7C1CC843D722}" type="presParOf" srcId="{7D061D4F-9BA8-4A45-B87A-176FE77A3B51}" destId="{CC0E3B43-301F-4D27-8335-E7755B667AB7}" srcOrd="1" destOrd="0" presId="urn:diagrams.loki3.com/BracketList"/>
    <dgm:cxn modelId="{3E9CFBA6-CFBD-43A9-AD3C-AC541BB59111}" type="presParOf" srcId="{7D061D4F-9BA8-4A45-B87A-176FE77A3B51}" destId="{61348976-7D39-461C-A1A5-FB31E55FF53B}" srcOrd="2" destOrd="0" presId="urn:diagrams.loki3.com/BracketList"/>
    <dgm:cxn modelId="{097BC155-3A86-4041-AD1B-5545F691BD72}" type="presParOf" srcId="{7D061D4F-9BA8-4A45-B87A-176FE77A3B51}" destId="{B10FFB9E-9989-4D5A-8B46-74BFB6716C46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FECC45-14D2-43CE-9EB5-7BF3D80F730C}" type="doc">
      <dgm:prSet loTypeId="urn:microsoft.com/office/officeart/2005/8/layout/cycle4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A0A25B5-D3C7-478F-94F7-DBFAEDE282A1}">
      <dgm:prSet phldrT="[Text]"/>
      <dgm:spPr/>
      <dgm:t>
        <a:bodyPr/>
        <a:lstStyle/>
        <a:p>
          <a:r>
            <a:rPr lang="en-US" dirty="0" smtClean="0"/>
            <a:t>PREDICT</a:t>
          </a:r>
          <a:endParaRPr lang="en-US" dirty="0"/>
        </a:p>
      </dgm:t>
    </dgm:pt>
    <dgm:pt modelId="{0711F8B5-ED22-484B-A40B-EA4BEB45A462}" type="parTrans" cxnId="{979C699E-AC07-4D81-9FD1-989B339D9423}">
      <dgm:prSet/>
      <dgm:spPr/>
      <dgm:t>
        <a:bodyPr/>
        <a:lstStyle/>
        <a:p>
          <a:endParaRPr lang="en-US"/>
        </a:p>
      </dgm:t>
    </dgm:pt>
    <dgm:pt modelId="{63B8C85C-D071-4BA7-81B4-ED93E495737D}" type="sibTrans" cxnId="{979C699E-AC07-4D81-9FD1-989B339D9423}">
      <dgm:prSet/>
      <dgm:spPr/>
      <dgm:t>
        <a:bodyPr/>
        <a:lstStyle/>
        <a:p>
          <a:endParaRPr lang="en-US"/>
        </a:p>
      </dgm:t>
    </dgm:pt>
    <dgm:pt modelId="{A6A230C0-6EB5-4BAD-BE4F-E26A2719E52E}">
      <dgm:prSet phldrT="[Text]"/>
      <dgm:spPr/>
      <dgm:t>
        <a:bodyPr/>
        <a:lstStyle/>
        <a:p>
          <a:r>
            <a:rPr lang="en-US" dirty="0" smtClean="0"/>
            <a:t>MEASURE</a:t>
          </a:r>
          <a:endParaRPr lang="en-US" dirty="0"/>
        </a:p>
      </dgm:t>
    </dgm:pt>
    <dgm:pt modelId="{95E0E46B-3B0A-4F8A-9726-A190488D2307}" type="parTrans" cxnId="{BD17C634-E321-409B-8CDD-67A0EAAE4CFA}">
      <dgm:prSet/>
      <dgm:spPr/>
      <dgm:t>
        <a:bodyPr/>
        <a:lstStyle/>
        <a:p>
          <a:endParaRPr lang="en-US"/>
        </a:p>
      </dgm:t>
    </dgm:pt>
    <dgm:pt modelId="{4961C42D-E9EE-4340-B921-BCAC2D3AE098}" type="sibTrans" cxnId="{BD17C634-E321-409B-8CDD-67A0EAAE4CFA}">
      <dgm:prSet/>
      <dgm:spPr/>
      <dgm:t>
        <a:bodyPr/>
        <a:lstStyle/>
        <a:p>
          <a:endParaRPr lang="en-US"/>
        </a:p>
      </dgm:t>
    </dgm:pt>
    <dgm:pt modelId="{6DB0D5AC-B57E-49C5-B73E-B5CEF4E5E281}">
      <dgm:prSet phldrT="[Text]"/>
      <dgm:spPr/>
      <dgm:t>
        <a:bodyPr/>
        <a:lstStyle/>
        <a:p>
          <a:r>
            <a:rPr lang="en-US" dirty="0" smtClean="0"/>
            <a:t>CORRECT</a:t>
          </a:r>
          <a:endParaRPr lang="en-US" dirty="0"/>
        </a:p>
      </dgm:t>
    </dgm:pt>
    <dgm:pt modelId="{20EFA17C-2518-4A7C-89D5-42943AFF76FE}" type="parTrans" cxnId="{50AFE9FE-1973-4EDB-A248-FFA48211C157}">
      <dgm:prSet/>
      <dgm:spPr/>
      <dgm:t>
        <a:bodyPr/>
        <a:lstStyle/>
        <a:p>
          <a:endParaRPr lang="en-US"/>
        </a:p>
      </dgm:t>
    </dgm:pt>
    <dgm:pt modelId="{C6E00984-126B-4177-AFA1-02C365C634C7}" type="sibTrans" cxnId="{50AFE9FE-1973-4EDB-A248-FFA48211C157}">
      <dgm:prSet/>
      <dgm:spPr/>
      <dgm:t>
        <a:bodyPr/>
        <a:lstStyle/>
        <a:p>
          <a:endParaRPr lang="en-US"/>
        </a:p>
      </dgm:t>
    </dgm:pt>
    <dgm:pt modelId="{734D5B04-6A63-4DBF-808B-EB9D50BE3BDD}">
      <dgm:prSet phldrT="[Text]"/>
      <dgm:spPr/>
      <dgm:t>
        <a:bodyPr/>
        <a:lstStyle/>
        <a:p>
          <a:r>
            <a:rPr lang="en-US" dirty="0" smtClean="0"/>
            <a:t>REPEAT</a:t>
          </a:r>
          <a:endParaRPr lang="en-US" dirty="0"/>
        </a:p>
      </dgm:t>
    </dgm:pt>
    <dgm:pt modelId="{DAE8D89C-5AF2-4471-8186-CB69669A5073}" type="parTrans" cxnId="{0F336775-A9BF-493F-804F-2F5A2C962A6C}">
      <dgm:prSet/>
      <dgm:spPr/>
      <dgm:t>
        <a:bodyPr/>
        <a:lstStyle/>
        <a:p>
          <a:endParaRPr lang="en-US"/>
        </a:p>
      </dgm:t>
    </dgm:pt>
    <dgm:pt modelId="{7E5B634E-71CA-4447-BEEB-23D6A90C0CE1}" type="sibTrans" cxnId="{0F336775-A9BF-493F-804F-2F5A2C962A6C}">
      <dgm:prSet/>
      <dgm:spPr/>
      <dgm:t>
        <a:bodyPr/>
        <a:lstStyle/>
        <a:p>
          <a:endParaRPr lang="en-US"/>
        </a:p>
      </dgm:t>
    </dgm:pt>
    <dgm:pt modelId="{5107B616-3E59-419C-94FD-C12A976FA0E4}">
      <dgm:prSet phldrT="[Text]"/>
      <dgm:spPr/>
      <dgm:t>
        <a:bodyPr/>
        <a:lstStyle/>
        <a:p>
          <a:r>
            <a:rPr lang="en-US" dirty="0" smtClean="0"/>
            <a:t>Forward pass</a:t>
          </a:r>
          <a:endParaRPr lang="en-US" dirty="0"/>
        </a:p>
      </dgm:t>
    </dgm:pt>
    <dgm:pt modelId="{D34614DC-7ABA-45DA-A486-C1C24F4F2629}" type="parTrans" cxnId="{434FAFD7-3237-4AF0-8CCD-7B7769B07C7C}">
      <dgm:prSet/>
      <dgm:spPr/>
      <dgm:t>
        <a:bodyPr/>
        <a:lstStyle/>
        <a:p>
          <a:endParaRPr lang="en-US"/>
        </a:p>
      </dgm:t>
    </dgm:pt>
    <dgm:pt modelId="{B1757D18-E569-4B53-8EA5-FFD0CB171BA3}" type="sibTrans" cxnId="{434FAFD7-3237-4AF0-8CCD-7B7769B07C7C}">
      <dgm:prSet/>
      <dgm:spPr/>
      <dgm:t>
        <a:bodyPr/>
        <a:lstStyle/>
        <a:p>
          <a:endParaRPr lang="en-US"/>
        </a:p>
      </dgm:t>
    </dgm:pt>
    <dgm:pt modelId="{87EA2169-71FE-4FB0-9D4E-608884743429}">
      <dgm:prSet phldrT="[Text]"/>
      <dgm:spPr/>
      <dgm:t>
        <a:bodyPr/>
        <a:lstStyle/>
        <a:p>
          <a:r>
            <a:rPr lang="en-US" dirty="0" smtClean="0"/>
            <a:t>Loss function</a:t>
          </a:r>
          <a:endParaRPr lang="en-US" dirty="0"/>
        </a:p>
      </dgm:t>
    </dgm:pt>
    <dgm:pt modelId="{EB18367A-4733-455F-9AA5-C4BEABC239C7}" type="parTrans" cxnId="{EAD46942-A4B6-4A94-A42B-B83A35A9DDFE}">
      <dgm:prSet/>
      <dgm:spPr/>
      <dgm:t>
        <a:bodyPr/>
        <a:lstStyle/>
        <a:p>
          <a:endParaRPr lang="en-US"/>
        </a:p>
      </dgm:t>
    </dgm:pt>
    <dgm:pt modelId="{B6703538-0256-4912-8A95-1C0EC68C4404}" type="sibTrans" cxnId="{EAD46942-A4B6-4A94-A42B-B83A35A9DDFE}">
      <dgm:prSet/>
      <dgm:spPr/>
      <dgm:t>
        <a:bodyPr/>
        <a:lstStyle/>
        <a:p>
          <a:endParaRPr lang="en-US"/>
        </a:p>
      </dgm:t>
    </dgm:pt>
    <dgm:pt modelId="{B5C42190-F584-446D-83E2-AB1D4D066240}">
      <dgm:prSet phldrT="[Text]"/>
      <dgm:spPr/>
      <dgm:t>
        <a:bodyPr/>
        <a:lstStyle/>
        <a:p>
          <a:r>
            <a:rPr lang="en-US" dirty="0" smtClean="0"/>
            <a:t>Vs real value</a:t>
          </a:r>
          <a:endParaRPr lang="en-US" dirty="0"/>
        </a:p>
      </dgm:t>
    </dgm:pt>
    <dgm:pt modelId="{F337E292-B5D1-495E-BE79-985232AA0209}" type="parTrans" cxnId="{9216497C-572F-4B01-B686-1A800EA13074}">
      <dgm:prSet/>
      <dgm:spPr/>
      <dgm:t>
        <a:bodyPr/>
        <a:lstStyle/>
        <a:p>
          <a:endParaRPr lang="en-US"/>
        </a:p>
      </dgm:t>
    </dgm:pt>
    <dgm:pt modelId="{9C450553-D87C-45CA-8F69-0BC73E8200BB}" type="sibTrans" cxnId="{9216497C-572F-4B01-B686-1A800EA13074}">
      <dgm:prSet/>
      <dgm:spPr/>
      <dgm:t>
        <a:bodyPr/>
        <a:lstStyle/>
        <a:p>
          <a:endParaRPr lang="en-US"/>
        </a:p>
      </dgm:t>
    </dgm:pt>
    <dgm:pt modelId="{E0956A82-A98B-40F8-9EE7-EDD577705DB5}">
      <dgm:prSet phldrT="[Text]"/>
      <dgm:spPr/>
      <dgm:t>
        <a:bodyPr/>
        <a:lstStyle/>
        <a:p>
          <a:r>
            <a:rPr lang="en-US" dirty="0" smtClean="0"/>
            <a:t>Gradient calculation</a:t>
          </a:r>
          <a:endParaRPr lang="en-US" dirty="0"/>
        </a:p>
      </dgm:t>
    </dgm:pt>
    <dgm:pt modelId="{59F61054-E02D-4DD2-8ADB-622E8E2CB6F2}" type="parTrans" cxnId="{0086BA6E-D6CD-485B-B94D-04411D4665C1}">
      <dgm:prSet/>
      <dgm:spPr/>
      <dgm:t>
        <a:bodyPr/>
        <a:lstStyle/>
        <a:p>
          <a:endParaRPr lang="en-US"/>
        </a:p>
      </dgm:t>
    </dgm:pt>
    <dgm:pt modelId="{9A2DE871-508D-4CD9-88FC-B04F87EF6BDB}" type="sibTrans" cxnId="{0086BA6E-D6CD-485B-B94D-04411D4665C1}">
      <dgm:prSet/>
      <dgm:spPr/>
      <dgm:t>
        <a:bodyPr/>
        <a:lstStyle/>
        <a:p>
          <a:endParaRPr lang="en-US"/>
        </a:p>
      </dgm:t>
    </dgm:pt>
    <dgm:pt modelId="{BD5F3E4F-849E-4608-991B-8473666CEBD7}">
      <dgm:prSet phldrT="[Text]"/>
      <dgm:spPr/>
      <dgm:t>
        <a:bodyPr/>
        <a:lstStyle/>
        <a:p>
          <a:r>
            <a:rPr lang="en-US" dirty="0" smtClean="0"/>
            <a:t>Batches</a:t>
          </a:r>
          <a:endParaRPr lang="en-US" dirty="0"/>
        </a:p>
      </dgm:t>
    </dgm:pt>
    <dgm:pt modelId="{ECB61491-BCE6-40DD-A3F5-6742A89F9CB2}" type="parTrans" cxnId="{4FF2B997-3B00-4AEF-AB53-293C5D0855AF}">
      <dgm:prSet/>
      <dgm:spPr/>
      <dgm:t>
        <a:bodyPr/>
        <a:lstStyle/>
        <a:p>
          <a:endParaRPr lang="en-US"/>
        </a:p>
      </dgm:t>
    </dgm:pt>
    <dgm:pt modelId="{8A0B994C-A313-4670-9EFA-A8A15B8B5B03}" type="sibTrans" cxnId="{4FF2B997-3B00-4AEF-AB53-293C5D0855AF}">
      <dgm:prSet/>
      <dgm:spPr/>
      <dgm:t>
        <a:bodyPr/>
        <a:lstStyle/>
        <a:p>
          <a:endParaRPr lang="en-US"/>
        </a:p>
      </dgm:t>
    </dgm:pt>
    <dgm:pt modelId="{E536193B-D3FF-4612-9483-762A08E409D7}">
      <dgm:prSet phldrT="[Text]"/>
      <dgm:spPr/>
      <dgm:t>
        <a:bodyPr/>
        <a:lstStyle/>
        <a:p>
          <a:r>
            <a:rPr lang="en-US" dirty="0" smtClean="0"/>
            <a:t>epochs</a:t>
          </a:r>
          <a:endParaRPr lang="en-US" dirty="0"/>
        </a:p>
      </dgm:t>
    </dgm:pt>
    <dgm:pt modelId="{094AE071-BC1D-41C7-A3ED-D7A90055C62B}" type="parTrans" cxnId="{256090CB-8A66-490D-AA14-106423AE06AA}">
      <dgm:prSet/>
      <dgm:spPr/>
      <dgm:t>
        <a:bodyPr/>
        <a:lstStyle/>
        <a:p>
          <a:endParaRPr lang="en-US"/>
        </a:p>
      </dgm:t>
    </dgm:pt>
    <dgm:pt modelId="{9CE5339E-6F2C-4045-A91A-4A89DD3CA780}" type="sibTrans" cxnId="{256090CB-8A66-490D-AA14-106423AE06AA}">
      <dgm:prSet/>
      <dgm:spPr/>
      <dgm:t>
        <a:bodyPr/>
        <a:lstStyle/>
        <a:p>
          <a:endParaRPr lang="en-US"/>
        </a:p>
      </dgm:t>
    </dgm:pt>
    <dgm:pt modelId="{7B977949-C9FE-46B3-8A0A-AC927A8922DC}" type="pres">
      <dgm:prSet presAssocID="{EAFECC45-14D2-43CE-9EB5-7BF3D80F730C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767731E7-EF39-455A-BE23-5DC15B21AD1F}" type="pres">
      <dgm:prSet presAssocID="{EAFECC45-14D2-43CE-9EB5-7BF3D80F730C}" presName="children" presStyleCnt="0"/>
      <dgm:spPr/>
    </dgm:pt>
    <dgm:pt modelId="{255FC777-9D08-4F41-84B1-368250B72E73}" type="pres">
      <dgm:prSet presAssocID="{EAFECC45-14D2-43CE-9EB5-7BF3D80F730C}" presName="child1group" presStyleCnt="0"/>
      <dgm:spPr/>
    </dgm:pt>
    <dgm:pt modelId="{AC0756A6-C1E5-45B3-A792-707814D646A4}" type="pres">
      <dgm:prSet presAssocID="{EAFECC45-14D2-43CE-9EB5-7BF3D80F730C}" presName="child1" presStyleLbl="bgAcc1" presStyleIdx="0" presStyleCnt="4"/>
      <dgm:spPr/>
      <dgm:t>
        <a:bodyPr/>
        <a:lstStyle/>
        <a:p>
          <a:endParaRPr lang="en-US"/>
        </a:p>
      </dgm:t>
    </dgm:pt>
    <dgm:pt modelId="{DD51B03B-BBA4-492E-AB5E-C5DEB303765D}" type="pres">
      <dgm:prSet presAssocID="{EAFECC45-14D2-43CE-9EB5-7BF3D80F730C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810E2F-AFF0-4F91-B414-B9DE1CEC0B46}" type="pres">
      <dgm:prSet presAssocID="{EAFECC45-14D2-43CE-9EB5-7BF3D80F730C}" presName="child2group" presStyleCnt="0"/>
      <dgm:spPr/>
    </dgm:pt>
    <dgm:pt modelId="{70D90C83-C882-4E55-8C28-9C18ADBC5ECD}" type="pres">
      <dgm:prSet presAssocID="{EAFECC45-14D2-43CE-9EB5-7BF3D80F730C}" presName="child2" presStyleLbl="bgAcc1" presStyleIdx="1" presStyleCnt="4" custScaleX="126573"/>
      <dgm:spPr/>
      <dgm:t>
        <a:bodyPr/>
        <a:lstStyle/>
        <a:p>
          <a:endParaRPr lang="en-US"/>
        </a:p>
      </dgm:t>
    </dgm:pt>
    <dgm:pt modelId="{57C06428-7576-4598-868C-D1036C74BDB8}" type="pres">
      <dgm:prSet presAssocID="{EAFECC45-14D2-43CE-9EB5-7BF3D80F730C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1E13D3-73D2-4435-A922-2EDC7E826963}" type="pres">
      <dgm:prSet presAssocID="{EAFECC45-14D2-43CE-9EB5-7BF3D80F730C}" presName="child3group" presStyleCnt="0"/>
      <dgm:spPr/>
    </dgm:pt>
    <dgm:pt modelId="{F576C22F-0754-47EE-9FCE-7F5996C05E70}" type="pres">
      <dgm:prSet presAssocID="{EAFECC45-14D2-43CE-9EB5-7BF3D80F730C}" presName="child3" presStyleLbl="bgAcc1" presStyleIdx="2" presStyleCnt="4"/>
      <dgm:spPr/>
      <dgm:t>
        <a:bodyPr/>
        <a:lstStyle/>
        <a:p>
          <a:endParaRPr lang="en-US"/>
        </a:p>
      </dgm:t>
    </dgm:pt>
    <dgm:pt modelId="{8A069485-401B-45F0-9D83-C1FB971454F9}" type="pres">
      <dgm:prSet presAssocID="{EAFECC45-14D2-43CE-9EB5-7BF3D80F730C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0FC564-8A09-4E9B-A3A6-8BEA13FE3894}" type="pres">
      <dgm:prSet presAssocID="{EAFECC45-14D2-43CE-9EB5-7BF3D80F730C}" presName="child4group" presStyleCnt="0"/>
      <dgm:spPr/>
    </dgm:pt>
    <dgm:pt modelId="{0E42BCDE-8888-46C7-8F5D-B2799B2CCAB4}" type="pres">
      <dgm:prSet presAssocID="{EAFECC45-14D2-43CE-9EB5-7BF3D80F730C}" presName="child4" presStyleLbl="bgAcc1" presStyleIdx="3" presStyleCnt="4"/>
      <dgm:spPr/>
    </dgm:pt>
    <dgm:pt modelId="{DFAEE938-5431-4BC2-A619-CAE7AE7202E9}" type="pres">
      <dgm:prSet presAssocID="{EAFECC45-14D2-43CE-9EB5-7BF3D80F730C}" presName="child4Text" presStyleLbl="bgAcc1" presStyleIdx="3" presStyleCnt="4">
        <dgm:presLayoutVars>
          <dgm:bulletEnabled val="1"/>
        </dgm:presLayoutVars>
      </dgm:prSet>
      <dgm:spPr/>
    </dgm:pt>
    <dgm:pt modelId="{440C8FE9-34F6-47E5-B234-2D7F7F84A4FF}" type="pres">
      <dgm:prSet presAssocID="{EAFECC45-14D2-43CE-9EB5-7BF3D80F730C}" presName="childPlaceholder" presStyleCnt="0"/>
      <dgm:spPr/>
    </dgm:pt>
    <dgm:pt modelId="{26122CB7-5B12-446D-8D50-B82AE9636934}" type="pres">
      <dgm:prSet presAssocID="{EAFECC45-14D2-43CE-9EB5-7BF3D80F730C}" presName="circle" presStyleCnt="0"/>
      <dgm:spPr/>
    </dgm:pt>
    <dgm:pt modelId="{1A7BE157-45F0-4056-871E-8E4C3B76C36F}" type="pres">
      <dgm:prSet presAssocID="{EAFECC45-14D2-43CE-9EB5-7BF3D80F730C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93D53E04-791E-49C1-8B65-4641BD0C4FEE}" type="pres">
      <dgm:prSet presAssocID="{EAFECC45-14D2-43CE-9EB5-7BF3D80F730C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D65345-F62D-4817-A674-577CB2034343}" type="pres">
      <dgm:prSet presAssocID="{EAFECC45-14D2-43CE-9EB5-7BF3D80F730C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2F94F0-20B3-420B-9201-A64079CC5A1E}" type="pres">
      <dgm:prSet presAssocID="{EAFECC45-14D2-43CE-9EB5-7BF3D80F730C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FBD2AE-D451-41F5-8855-953CFA2809CC}" type="pres">
      <dgm:prSet presAssocID="{EAFECC45-14D2-43CE-9EB5-7BF3D80F730C}" presName="quadrantPlaceholder" presStyleCnt="0"/>
      <dgm:spPr/>
    </dgm:pt>
    <dgm:pt modelId="{64D75425-611B-4C3D-9573-AEB126858C88}" type="pres">
      <dgm:prSet presAssocID="{EAFECC45-14D2-43CE-9EB5-7BF3D80F730C}" presName="center1" presStyleLbl="fgShp" presStyleIdx="0" presStyleCnt="2"/>
      <dgm:spPr/>
    </dgm:pt>
    <dgm:pt modelId="{B65602AA-1D85-4051-9E37-B044AB9D03EF}" type="pres">
      <dgm:prSet presAssocID="{EAFECC45-14D2-43CE-9EB5-7BF3D80F730C}" presName="center2" presStyleLbl="fgShp" presStyleIdx="1" presStyleCnt="2"/>
      <dgm:spPr/>
    </dgm:pt>
  </dgm:ptLst>
  <dgm:cxnLst>
    <dgm:cxn modelId="{DF029FAC-4174-4BD8-A022-1C86432A4DB8}" type="presOf" srcId="{734D5B04-6A63-4DBF-808B-EB9D50BE3BDD}" destId="{762F94F0-20B3-420B-9201-A64079CC5A1E}" srcOrd="0" destOrd="0" presId="urn:microsoft.com/office/officeart/2005/8/layout/cycle4"/>
    <dgm:cxn modelId="{7261DC10-AB9B-436D-A8DA-9BC6C83DD035}" type="presOf" srcId="{87EA2169-71FE-4FB0-9D4E-608884743429}" destId="{70D90C83-C882-4E55-8C28-9C18ADBC5ECD}" srcOrd="0" destOrd="0" presId="urn:microsoft.com/office/officeart/2005/8/layout/cycle4"/>
    <dgm:cxn modelId="{37DE3E32-47B4-47CA-989C-210FAD6C9B75}" type="presOf" srcId="{EAFECC45-14D2-43CE-9EB5-7BF3D80F730C}" destId="{7B977949-C9FE-46B3-8A0A-AC927A8922DC}" srcOrd="0" destOrd="0" presId="urn:microsoft.com/office/officeart/2005/8/layout/cycle4"/>
    <dgm:cxn modelId="{4FF2B997-3B00-4AEF-AB53-293C5D0855AF}" srcId="{734D5B04-6A63-4DBF-808B-EB9D50BE3BDD}" destId="{BD5F3E4F-849E-4608-991B-8473666CEBD7}" srcOrd="0" destOrd="0" parTransId="{ECB61491-BCE6-40DD-A3F5-6742A89F9CB2}" sibTransId="{8A0B994C-A313-4670-9EFA-A8A15B8B5B03}"/>
    <dgm:cxn modelId="{3002E4E1-63A3-44B1-B86E-71CB415233A2}" type="presOf" srcId="{BD5F3E4F-849E-4608-991B-8473666CEBD7}" destId="{0E42BCDE-8888-46C7-8F5D-B2799B2CCAB4}" srcOrd="0" destOrd="0" presId="urn:microsoft.com/office/officeart/2005/8/layout/cycle4"/>
    <dgm:cxn modelId="{256090CB-8A66-490D-AA14-106423AE06AA}" srcId="{734D5B04-6A63-4DBF-808B-EB9D50BE3BDD}" destId="{E536193B-D3FF-4612-9483-762A08E409D7}" srcOrd="1" destOrd="0" parTransId="{094AE071-BC1D-41C7-A3ED-D7A90055C62B}" sibTransId="{9CE5339E-6F2C-4045-A91A-4A89DD3CA780}"/>
    <dgm:cxn modelId="{81E258B7-5B02-4846-AEEB-A91E0A3E4C5A}" type="presOf" srcId="{B5C42190-F584-446D-83E2-AB1D4D066240}" destId="{70D90C83-C882-4E55-8C28-9C18ADBC5ECD}" srcOrd="0" destOrd="1" presId="urn:microsoft.com/office/officeart/2005/8/layout/cycle4"/>
    <dgm:cxn modelId="{979C699E-AC07-4D81-9FD1-989B339D9423}" srcId="{EAFECC45-14D2-43CE-9EB5-7BF3D80F730C}" destId="{AA0A25B5-D3C7-478F-94F7-DBFAEDE282A1}" srcOrd="0" destOrd="0" parTransId="{0711F8B5-ED22-484B-A40B-EA4BEB45A462}" sibTransId="{63B8C85C-D071-4BA7-81B4-ED93E495737D}"/>
    <dgm:cxn modelId="{B23A0EC6-D63A-4358-918F-691EF229AAA8}" type="presOf" srcId="{AA0A25B5-D3C7-478F-94F7-DBFAEDE282A1}" destId="{1A7BE157-45F0-4056-871E-8E4C3B76C36F}" srcOrd="0" destOrd="0" presId="urn:microsoft.com/office/officeart/2005/8/layout/cycle4"/>
    <dgm:cxn modelId="{EAD46942-A4B6-4A94-A42B-B83A35A9DDFE}" srcId="{A6A230C0-6EB5-4BAD-BE4F-E26A2719E52E}" destId="{87EA2169-71FE-4FB0-9D4E-608884743429}" srcOrd="0" destOrd="0" parTransId="{EB18367A-4733-455F-9AA5-C4BEABC239C7}" sibTransId="{B6703538-0256-4912-8A95-1C0EC68C4404}"/>
    <dgm:cxn modelId="{AA77E220-9813-45BD-A09F-F99F6EAA3362}" type="presOf" srcId="{A6A230C0-6EB5-4BAD-BE4F-E26A2719E52E}" destId="{93D53E04-791E-49C1-8B65-4641BD0C4FEE}" srcOrd="0" destOrd="0" presId="urn:microsoft.com/office/officeart/2005/8/layout/cycle4"/>
    <dgm:cxn modelId="{0086BA6E-D6CD-485B-B94D-04411D4665C1}" srcId="{6DB0D5AC-B57E-49C5-B73E-B5CEF4E5E281}" destId="{E0956A82-A98B-40F8-9EE7-EDD577705DB5}" srcOrd="0" destOrd="0" parTransId="{59F61054-E02D-4DD2-8ADB-622E8E2CB6F2}" sibTransId="{9A2DE871-508D-4CD9-88FC-B04F87EF6BDB}"/>
    <dgm:cxn modelId="{920E8BE9-3948-47D7-A991-DB30BD195513}" type="presOf" srcId="{E0956A82-A98B-40F8-9EE7-EDD577705DB5}" destId="{8A069485-401B-45F0-9D83-C1FB971454F9}" srcOrd="1" destOrd="0" presId="urn:microsoft.com/office/officeart/2005/8/layout/cycle4"/>
    <dgm:cxn modelId="{C3546A37-B5AD-4ABE-9FEA-8E11A75B4629}" type="presOf" srcId="{E536193B-D3FF-4612-9483-762A08E409D7}" destId="{0E42BCDE-8888-46C7-8F5D-B2799B2CCAB4}" srcOrd="0" destOrd="1" presId="urn:microsoft.com/office/officeart/2005/8/layout/cycle4"/>
    <dgm:cxn modelId="{0845F186-4F17-410A-9109-6BD66132C150}" type="presOf" srcId="{5107B616-3E59-419C-94FD-C12A976FA0E4}" destId="{AC0756A6-C1E5-45B3-A792-707814D646A4}" srcOrd="0" destOrd="0" presId="urn:microsoft.com/office/officeart/2005/8/layout/cycle4"/>
    <dgm:cxn modelId="{0F336775-A9BF-493F-804F-2F5A2C962A6C}" srcId="{EAFECC45-14D2-43CE-9EB5-7BF3D80F730C}" destId="{734D5B04-6A63-4DBF-808B-EB9D50BE3BDD}" srcOrd="3" destOrd="0" parTransId="{DAE8D89C-5AF2-4471-8186-CB69669A5073}" sibTransId="{7E5B634E-71CA-4447-BEEB-23D6A90C0CE1}"/>
    <dgm:cxn modelId="{9EF671BC-8F35-4FDB-BAD0-67A9720D24BC}" type="presOf" srcId="{B5C42190-F584-446D-83E2-AB1D4D066240}" destId="{57C06428-7576-4598-868C-D1036C74BDB8}" srcOrd="1" destOrd="1" presId="urn:microsoft.com/office/officeart/2005/8/layout/cycle4"/>
    <dgm:cxn modelId="{8D1E4CBB-614C-45E7-B068-DB3610AB6175}" type="presOf" srcId="{6DB0D5AC-B57E-49C5-B73E-B5CEF4E5E281}" destId="{75D65345-F62D-4817-A674-577CB2034343}" srcOrd="0" destOrd="0" presId="urn:microsoft.com/office/officeart/2005/8/layout/cycle4"/>
    <dgm:cxn modelId="{3F677EE8-D8B2-4268-908A-6310736DEB5A}" type="presOf" srcId="{5107B616-3E59-419C-94FD-C12A976FA0E4}" destId="{DD51B03B-BBA4-492E-AB5E-C5DEB303765D}" srcOrd="1" destOrd="0" presId="urn:microsoft.com/office/officeart/2005/8/layout/cycle4"/>
    <dgm:cxn modelId="{50AFE9FE-1973-4EDB-A248-FFA48211C157}" srcId="{EAFECC45-14D2-43CE-9EB5-7BF3D80F730C}" destId="{6DB0D5AC-B57E-49C5-B73E-B5CEF4E5E281}" srcOrd="2" destOrd="0" parTransId="{20EFA17C-2518-4A7C-89D5-42943AFF76FE}" sibTransId="{C6E00984-126B-4177-AFA1-02C365C634C7}"/>
    <dgm:cxn modelId="{A3CFD300-03B8-46D4-913E-592CF7675C1B}" type="presOf" srcId="{E536193B-D3FF-4612-9483-762A08E409D7}" destId="{DFAEE938-5431-4BC2-A619-CAE7AE7202E9}" srcOrd="1" destOrd="1" presId="urn:microsoft.com/office/officeart/2005/8/layout/cycle4"/>
    <dgm:cxn modelId="{9216497C-572F-4B01-B686-1A800EA13074}" srcId="{A6A230C0-6EB5-4BAD-BE4F-E26A2719E52E}" destId="{B5C42190-F584-446D-83E2-AB1D4D066240}" srcOrd="1" destOrd="0" parTransId="{F337E292-B5D1-495E-BE79-985232AA0209}" sibTransId="{9C450553-D87C-45CA-8F69-0BC73E8200BB}"/>
    <dgm:cxn modelId="{BD17C634-E321-409B-8CDD-67A0EAAE4CFA}" srcId="{EAFECC45-14D2-43CE-9EB5-7BF3D80F730C}" destId="{A6A230C0-6EB5-4BAD-BE4F-E26A2719E52E}" srcOrd="1" destOrd="0" parTransId="{95E0E46B-3B0A-4F8A-9726-A190488D2307}" sibTransId="{4961C42D-E9EE-4340-B921-BCAC2D3AE098}"/>
    <dgm:cxn modelId="{731E2EF8-A1A5-40C7-B999-44ED708EAB5F}" type="presOf" srcId="{BD5F3E4F-849E-4608-991B-8473666CEBD7}" destId="{DFAEE938-5431-4BC2-A619-CAE7AE7202E9}" srcOrd="1" destOrd="0" presId="urn:microsoft.com/office/officeart/2005/8/layout/cycle4"/>
    <dgm:cxn modelId="{434FAFD7-3237-4AF0-8CCD-7B7769B07C7C}" srcId="{AA0A25B5-D3C7-478F-94F7-DBFAEDE282A1}" destId="{5107B616-3E59-419C-94FD-C12A976FA0E4}" srcOrd="0" destOrd="0" parTransId="{D34614DC-7ABA-45DA-A486-C1C24F4F2629}" sibTransId="{B1757D18-E569-4B53-8EA5-FFD0CB171BA3}"/>
    <dgm:cxn modelId="{4A88D258-1D78-4D49-803E-4AF4EBE0F4D6}" type="presOf" srcId="{E0956A82-A98B-40F8-9EE7-EDD577705DB5}" destId="{F576C22F-0754-47EE-9FCE-7F5996C05E70}" srcOrd="0" destOrd="0" presId="urn:microsoft.com/office/officeart/2005/8/layout/cycle4"/>
    <dgm:cxn modelId="{9357436C-E1B1-480C-A7BE-B7C308BBD6FB}" type="presOf" srcId="{87EA2169-71FE-4FB0-9D4E-608884743429}" destId="{57C06428-7576-4598-868C-D1036C74BDB8}" srcOrd="1" destOrd="0" presId="urn:microsoft.com/office/officeart/2005/8/layout/cycle4"/>
    <dgm:cxn modelId="{E14CD9D2-4ADE-4D80-9481-991B8F77D2A3}" type="presParOf" srcId="{7B977949-C9FE-46B3-8A0A-AC927A8922DC}" destId="{767731E7-EF39-455A-BE23-5DC15B21AD1F}" srcOrd="0" destOrd="0" presId="urn:microsoft.com/office/officeart/2005/8/layout/cycle4"/>
    <dgm:cxn modelId="{872D1E16-1380-4786-89A3-EFF3139E8A09}" type="presParOf" srcId="{767731E7-EF39-455A-BE23-5DC15B21AD1F}" destId="{255FC777-9D08-4F41-84B1-368250B72E73}" srcOrd="0" destOrd="0" presId="urn:microsoft.com/office/officeart/2005/8/layout/cycle4"/>
    <dgm:cxn modelId="{D937A6C5-8579-4A52-8A31-35F894A4596F}" type="presParOf" srcId="{255FC777-9D08-4F41-84B1-368250B72E73}" destId="{AC0756A6-C1E5-45B3-A792-707814D646A4}" srcOrd="0" destOrd="0" presId="urn:microsoft.com/office/officeart/2005/8/layout/cycle4"/>
    <dgm:cxn modelId="{973B7476-A7C6-4BB5-B276-AFF147F576E3}" type="presParOf" srcId="{255FC777-9D08-4F41-84B1-368250B72E73}" destId="{DD51B03B-BBA4-492E-AB5E-C5DEB303765D}" srcOrd="1" destOrd="0" presId="urn:microsoft.com/office/officeart/2005/8/layout/cycle4"/>
    <dgm:cxn modelId="{764B49F2-58CC-461A-8C9C-C11ECBDCC00C}" type="presParOf" srcId="{767731E7-EF39-455A-BE23-5DC15B21AD1F}" destId="{F1810E2F-AFF0-4F91-B414-B9DE1CEC0B46}" srcOrd="1" destOrd="0" presId="urn:microsoft.com/office/officeart/2005/8/layout/cycle4"/>
    <dgm:cxn modelId="{DDBB02BC-469D-4C69-B7D6-87EDD36210A3}" type="presParOf" srcId="{F1810E2F-AFF0-4F91-B414-B9DE1CEC0B46}" destId="{70D90C83-C882-4E55-8C28-9C18ADBC5ECD}" srcOrd="0" destOrd="0" presId="urn:microsoft.com/office/officeart/2005/8/layout/cycle4"/>
    <dgm:cxn modelId="{DDF25ABC-8B7C-45D8-8EAC-C293AE6DDF01}" type="presParOf" srcId="{F1810E2F-AFF0-4F91-B414-B9DE1CEC0B46}" destId="{57C06428-7576-4598-868C-D1036C74BDB8}" srcOrd="1" destOrd="0" presId="urn:microsoft.com/office/officeart/2005/8/layout/cycle4"/>
    <dgm:cxn modelId="{A4E9A031-31FE-4BCB-AE55-999392F06F20}" type="presParOf" srcId="{767731E7-EF39-455A-BE23-5DC15B21AD1F}" destId="{AE1E13D3-73D2-4435-A922-2EDC7E826963}" srcOrd="2" destOrd="0" presId="urn:microsoft.com/office/officeart/2005/8/layout/cycle4"/>
    <dgm:cxn modelId="{ABA4F1F8-C7EA-409E-93A8-844562D3103F}" type="presParOf" srcId="{AE1E13D3-73D2-4435-A922-2EDC7E826963}" destId="{F576C22F-0754-47EE-9FCE-7F5996C05E70}" srcOrd="0" destOrd="0" presId="urn:microsoft.com/office/officeart/2005/8/layout/cycle4"/>
    <dgm:cxn modelId="{9724C2F9-58C7-474F-A511-7495FD5D3A3A}" type="presParOf" srcId="{AE1E13D3-73D2-4435-A922-2EDC7E826963}" destId="{8A069485-401B-45F0-9D83-C1FB971454F9}" srcOrd="1" destOrd="0" presId="urn:microsoft.com/office/officeart/2005/8/layout/cycle4"/>
    <dgm:cxn modelId="{46CED8F3-D757-49EE-BE18-F32595B3E9EF}" type="presParOf" srcId="{767731E7-EF39-455A-BE23-5DC15B21AD1F}" destId="{5A0FC564-8A09-4E9B-A3A6-8BEA13FE3894}" srcOrd="3" destOrd="0" presId="urn:microsoft.com/office/officeart/2005/8/layout/cycle4"/>
    <dgm:cxn modelId="{09B9BB9D-95D9-4C43-9A0D-F45EF2155F59}" type="presParOf" srcId="{5A0FC564-8A09-4E9B-A3A6-8BEA13FE3894}" destId="{0E42BCDE-8888-46C7-8F5D-B2799B2CCAB4}" srcOrd="0" destOrd="0" presId="urn:microsoft.com/office/officeart/2005/8/layout/cycle4"/>
    <dgm:cxn modelId="{43DAF7AD-FB8D-4EDE-BF33-D194B87FDECD}" type="presParOf" srcId="{5A0FC564-8A09-4E9B-A3A6-8BEA13FE3894}" destId="{DFAEE938-5431-4BC2-A619-CAE7AE7202E9}" srcOrd="1" destOrd="0" presId="urn:microsoft.com/office/officeart/2005/8/layout/cycle4"/>
    <dgm:cxn modelId="{695AB426-5BA4-4FBF-AB9C-F688127CF53A}" type="presParOf" srcId="{767731E7-EF39-455A-BE23-5DC15B21AD1F}" destId="{440C8FE9-34F6-47E5-B234-2D7F7F84A4FF}" srcOrd="4" destOrd="0" presId="urn:microsoft.com/office/officeart/2005/8/layout/cycle4"/>
    <dgm:cxn modelId="{AEC89FD8-FD8D-4B17-9D1A-B2AEBABE44F2}" type="presParOf" srcId="{7B977949-C9FE-46B3-8A0A-AC927A8922DC}" destId="{26122CB7-5B12-446D-8D50-B82AE9636934}" srcOrd="1" destOrd="0" presId="urn:microsoft.com/office/officeart/2005/8/layout/cycle4"/>
    <dgm:cxn modelId="{893C5A22-5101-41DA-94FD-DD8E644A9D58}" type="presParOf" srcId="{26122CB7-5B12-446D-8D50-B82AE9636934}" destId="{1A7BE157-45F0-4056-871E-8E4C3B76C36F}" srcOrd="0" destOrd="0" presId="urn:microsoft.com/office/officeart/2005/8/layout/cycle4"/>
    <dgm:cxn modelId="{12D5E415-A829-4B71-8E23-DF180EA94398}" type="presParOf" srcId="{26122CB7-5B12-446D-8D50-B82AE9636934}" destId="{93D53E04-791E-49C1-8B65-4641BD0C4FEE}" srcOrd="1" destOrd="0" presId="urn:microsoft.com/office/officeart/2005/8/layout/cycle4"/>
    <dgm:cxn modelId="{3FB292CE-2C63-4A92-8F35-4A5F4D2A1114}" type="presParOf" srcId="{26122CB7-5B12-446D-8D50-B82AE9636934}" destId="{75D65345-F62D-4817-A674-577CB2034343}" srcOrd="2" destOrd="0" presId="urn:microsoft.com/office/officeart/2005/8/layout/cycle4"/>
    <dgm:cxn modelId="{29A35202-EC56-4871-B1CB-4AA1037E3910}" type="presParOf" srcId="{26122CB7-5B12-446D-8D50-B82AE9636934}" destId="{762F94F0-20B3-420B-9201-A64079CC5A1E}" srcOrd="3" destOrd="0" presId="urn:microsoft.com/office/officeart/2005/8/layout/cycle4"/>
    <dgm:cxn modelId="{EF24E9F1-C2CC-4EFB-9C9A-CFB98680A328}" type="presParOf" srcId="{26122CB7-5B12-446D-8D50-B82AE9636934}" destId="{0FFBD2AE-D451-41F5-8855-953CFA2809CC}" srcOrd="4" destOrd="0" presId="urn:microsoft.com/office/officeart/2005/8/layout/cycle4"/>
    <dgm:cxn modelId="{75F84C2A-B659-47FA-97ED-DD413F983748}" type="presParOf" srcId="{7B977949-C9FE-46B3-8A0A-AC927A8922DC}" destId="{64D75425-611B-4C3D-9573-AEB126858C88}" srcOrd="2" destOrd="0" presId="urn:microsoft.com/office/officeart/2005/8/layout/cycle4"/>
    <dgm:cxn modelId="{5B9FB3EB-C4A3-4802-951C-244BEF86BB34}" type="presParOf" srcId="{7B977949-C9FE-46B3-8A0A-AC927A8922DC}" destId="{B65602AA-1D85-4051-9E37-B044AB9D03EF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8AD26-85C9-483C-96CB-DA8FC0965091}">
      <dsp:nvSpPr>
        <dsp:cNvPr id="0" name=""/>
        <dsp:cNvSpPr/>
      </dsp:nvSpPr>
      <dsp:spPr>
        <a:xfrm>
          <a:off x="1292" y="1287252"/>
          <a:ext cx="2756421" cy="16538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No predefined categories?</a:t>
          </a:r>
          <a:endParaRPr lang="en-US" sz="3200" kern="1200" dirty="0"/>
        </a:p>
      </dsp:txBody>
      <dsp:txXfrm>
        <a:off x="49732" y="1335692"/>
        <a:ext cx="2659541" cy="1556972"/>
      </dsp:txXfrm>
    </dsp:sp>
    <dsp:sp modelId="{D33E0F84-EEC2-4905-B0BE-11362FA621A6}">
      <dsp:nvSpPr>
        <dsp:cNvPr id="0" name=""/>
        <dsp:cNvSpPr/>
      </dsp:nvSpPr>
      <dsp:spPr>
        <a:xfrm>
          <a:off x="3033355" y="1772382"/>
          <a:ext cx="584361" cy="6835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600" kern="1200"/>
        </a:p>
      </dsp:txBody>
      <dsp:txXfrm>
        <a:off x="3033355" y="1909100"/>
        <a:ext cx="409053" cy="410156"/>
      </dsp:txXfrm>
    </dsp:sp>
    <dsp:sp modelId="{60182AAB-EAE7-4BE7-B703-A70A41D43DED}">
      <dsp:nvSpPr>
        <dsp:cNvPr id="0" name=""/>
        <dsp:cNvSpPr/>
      </dsp:nvSpPr>
      <dsp:spPr>
        <a:xfrm>
          <a:off x="3860282" y="1287252"/>
          <a:ext cx="2756421" cy="1653852"/>
        </a:xfrm>
        <a:prstGeom prst="roundRect">
          <a:avLst>
            <a:gd name="adj" fmla="val 10000"/>
          </a:avLst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Unsupervised machine learning</a:t>
          </a:r>
          <a:endParaRPr lang="en-US" sz="3200" kern="1200" dirty="0"/>
        </a:p>
      </dsp:txBody>
      <dsp:txXfrm>
        <a:off x="3908722" y="1335692"/>
        <a:ext cx="2659541" cy="15569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C7E6B-0627-474B-BF73-BA4A7A1555DF}">
      <dsp:nvSpPr>
        <dsp:cNvPr id="0" name=""/>
        <dsp:cNvSpPr/>
      </dsp:nvSpPr>
      <dsp:spPr>
        <a:xfrm>
          <a:off x="3235523" y="610526"/>
          <a:ext cx="1656953" cy="11046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ML</a:t>
          </a:r>
          <a:endParaRPr lang="en-US" sz="1800" kern="1200" dirty="0"/>
        </a:p>
      </dsp:txBody>
      <dsp:txXfrm>
        <a:off x="3267877" y="642880"/>
        <a:ext cx="1592245" cy="1039927"/>
      </dsp:txXfrm>
    </dsp:sp>
    <dsp:sp modelId="{8BD67FB6-9A8F-4F0E-B5A0-A4BDE9C19572}">
      <dsp:nvSpPr>
        <dsp:cNvPr id="0" name=""/>
        <dsp:cNvSpPr/>
      </dsp:nvSpPr>
      <dsp:spPr>
        <a:xfrm>
          <a:off x="1909960" y="1715161"/>
          <a:ext cx="2154039" cy="441854"/>
        </a:xfrm>
        <a:custGeom>
          <a:avLst/>
          <a:gdLst/>
          <a:ahLst/>
          <a:cxnLst/>
          <a:rect l="0" t="0" r="0" b="0"/>
          <a:pathLst>
            <a:path>
              <a:moveTo>
                <a:pt x="2154039" y="0"/>
              </a:moveTo>
              <a:lnTo>
                <a:pt x="2154039" y="220927"/>
              </a:lnTo>
              <a:lnTo>
                <a:pt x="0" y="220927"/>
              </a:lnTo>
              <a:lnTo>
                <a:pt x="0" y="44185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7C3440-95FB-48D8-910E-013CED511044}">
      <dsp:nvSpPr>
        <dsp:cNvPr id="0" name=""/>
        <dsp:cNvSpPr/>
      </dsp:nvSpPr>
      <dsp:spPr>
        <a:xfrm>
          <a:off x="1081484" y="2157015"/>
          <a:ext cx="1656953" cy="110463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Supervised</a:t>
          </a:r>
          <a:endParaRPr lang="en-US" sz="1800" kern="1200" dirty="0"/>
        </a:p>
      </dsp:txBody>
      <dsp:txXfrm>
        <a:off x="1113838" y="2189369"/>
        <a:ext cx="1592245" cy="1039927"/>
      </dsp:txXfrm>
    </dsp:sp>
    <dsp:sp modelId="{EA0D8F52-8A70-47D4-8B3F-3F0BB21A99B9}">
      <dsp:nvSpPr>
        <dsp:cNvPr id="0" name=""/>
        <dsp:cNvSpPr/>
      </dsp:nvSpPr>
      <dsp:spPr>
        <a:xfrm>
          <a:off x="832941" y="3261651"/>
          <a:ext cx="1077019" cy="441854"/>
        </a:xfrm>
        <a:custGeom>
          <a:avLst/>
          <a:gdLst/>
          <a:ahLst/>
          <a:cxnLst/>
          <a:rect l="0" t="0" r="0" b="0"/>
          <a:pathLst>
            <a:path>
              <a:moveTo>
                <a:pt x="1077019" y="0"/>
              </a:moveTo>
              <a:lnTo>
                <a:pt x="1077019" y="220927"/>
              </a:lnTo>
              <a:lnTo>
                <a:pt x="0" y="220927"/>
              </a:lnTo>
              <a:lnTo>
                <a:pt x="0" y="441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81DF5A-0746-4793-81F7-23CC81278073}">
      <dsp:nvSpPr>
        <dsp:cNvPr id="0" name=""/>
        <dsp:cNvSpPr/>
      </dsp:nvSpPr>
      <dsp:spPr>
        <a:xfrm>
          <a:off x="4464" y="3703505"/>
          <a:ext cx="1656953" cy="11046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Regression</a:t>
          </a:r>
          <a:endParaRPr lang="en-US" sz="1800" kern="1200" dirty="0"/>
        </a:p>
      </dsp:txBody>
      <dsp:txXfrm>
        <a:off x="36818" y="3735859"/>
        <a:ext cx="1592245" cy="1039927"/>
      </dsp:txXfrm>
    </dsp:sp>
    <dsp:sp modelId="{1D1A018B-CBAA-47C5-BB58-09984A5A7619}">
      <dsp:nvSpPr>
        <dsp:cNvPr id="0" name=""/>
        <dsp:cNvSpPr/>
      </dsp:nvSpPr>
      <dsp:spPr>
        <a:xfrm>
          <a:off x="1909960" y="3261651"/>
          <a:ext cx="1077019" cy="4418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927"/>
              </a:lnTo>
              <a:lnTo>
                <a:pt x="1077019" y="220927"/>
              </a:lnTo>
              <a:lnTo>
                <a:pt x="1077019" y="441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52B009-B169-44C3-BD8A-C8C829AF8972}">
      <dsp:nvSpPr>
        <dsp:cNvPr id="0" name=""/>
        <dsp:cNvSpPr/>
      </dsp:nvSpPr>
      <dsp:spPr>
        <a:xfrm>
          <a:off x="2158503" y="3703505"/>
          <a:ext cx="1656953" cy="11046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Classification</a:t>
          </a:r>
          <a:endParaRPr lang="en-US" sz="1800" kern="1200" dirty="0"/>
        </a:p>
      </dsp:txBody>
      <dsp:txXfrm>
        <a:off x="2190857" y="3735859"/>
        <a:ext cx="1592245" cy="1039927"/>
      </dsp:txXfrm>
    </dsp:sp>
    <dsp:sp modelId="{FD81F746-7C40-4A9D-82C3-FE4BA0DDBB98}">
      <dsp:nvSpPr>
        <dsp:cNvPr id="0" name=""/>
        <dsp:cNvSpPr/>
      </dsp:nvSpPr>
      <dsp:spPr>
        <a:xfrm>
          <a:off x="4064000" y="1715161"/>
          <a:ext cx="2154039" cy="4418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927"/>
              </a:lnTo>
              <a:lnTo>
                <a:pt x="2154039" y="220927"/>
              </a:lnTo>
              <a:lnTo>
                <a:pt x="2154039" y="44185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9EB154-A737-44EE-A1DC-6A1CB960D2AC}">
      <dsp:nvSpPr>
        <dsp:cNvPr id="0" name=""/>
        <dsp:cNvSpPr/>
      </dsp:nvSpPr>
      <dsp:spPr>
        <a:xfrm>
          <a:off x="5389562" y="2157015"/>
          <a:ext cx="1656953" cy="110463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Unsupervised</a:t>
          </a:r>
          <a:endParaRPr lang="en-US" sz="1800" kern="1200" dirty="0"/>
        </a:p>
      </dsp:txBody>
      <dsp:txXfrm>
        <a:off x="5421916" y="2189369"/>
        <a:ext cx="1592245" cy="1039927"/>
      </dsp:txXfrm>
    </dsp:sp>
    <dsp:sp modelId="{CECDE7C4-1F6E-45D8-B5E7-FD62E4E42666}">
      <dsp:nvSpPr>
        <dsp:cNvPr id="0" name=""/>
        <dsp:cNvSpPr/>
      </dsp:nvSpPr>
      <dsp:spPr>
        <a:xfrm>
          <a:off x="5141019" y="3261651"/>
          <a:ext cx="1077019" cy="441854"/>
        </a:xfrm>
        <a:custGeom>
          <a:avLst/>
          <a:gdLst/>
          <a:ahLst/>
          <a:cxnLst/>
          <a:rect l="0" t="0" r="0" b="0"/>
          <a:pathLst>
            <a:path>
              <a:moveTo>
                <a:pt x="1077019" y="0"/>
              </a:moveTo>
              <a:lnTo>
                <a:pt x="1077019" y="220927"/>
              </a:lnTo>
              <a:lnTo>
                <a:pt x="0" y="220927"/>
              </a:lnTo>
              <a:lnTo>
                <a:pt x="0" y="441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B3BED9-6499-493E-A8BC-8478E153E01F}">
      <dsp:nvSpPr>
        <dsp:cNvPr id="0" name=""/>
        <dsp:cNvSpPr/>
      </dsp:nvSpPr>
      <dsp:spPr>
        <a:xfrm>
          <a:off x="4312542" y="3703505"/>
          <a:ext cx="1656953" cy="11046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Clustering</a:t>
          </a:r>
          <a:endParaRPr lang="en-US" sz="1800" kern="1200" dirty="0"/>
        </a:p>
      </dsp:txBody>
      <dsp:txXfrm>
        <a:off x="4344896" y="3735859"/>
        <a:ext cx="1592245" cy="1039927"/>
      </dsp:txXfrm>
    </dsp:sp>
    <dsp:sp modelId="{79EFEDD3-0869-4817-B491-CCFA922F1125}">
      <dsp:nvSpPr>
        <dsp:cNvPr id="0" name=""/>
        <dsp:cNvSpPr/>
      </dsp:nvSpPr>
      <dsp:spPr>
        <a:xfrm>
          <a:off x="6218039" y="3261651"/>
          <a:ext cx="1077019" cy="4418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927"/>
              </a:lnTo>
              <a:lnTo>
                <a:pt x="1077019" y="220927"/>
              </a:lnTo>
              <a:lnTo>
                <a:pt x="1077019" y="441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4BD3FC-254B-4F46-A02A-4B2FAC9BA7B5}">
      <dsp:nvSpPr>
        <dsp:cNvPr id="0" name=""/>
        <dsp:cNvSpPr/>
      </dsp:nvSpPr>
      <dsp:spPr>
        <a:xfrm>
          <a:off x="6466582" y="3703505"/>
          <a:ext cx="1656953" cy="11046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Association rule learning</a:t>
          </a:r>
          <a:endParaRPr lang="en-US" sz="1800" kern="1200" dirty="0"/>
        </a:p>
      </dsp:txBody>
      <dsp:txXfrm>
        <a:off x="6498936" y="3735859"/>
        <a:ext cx="1592245" cy="10399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F53EB-6716-4A69-84A0-B32621B46045}">
      <dsp:nvSpPr>
        <dsp:cNvPr id="0" name=""/>
        <dsp:cNvSpPr/>
      </dsp:nvSpPr>
      <dsp:spPr>
        <a:xfrm>
          <a:off x="3968" y="1868958"/>
          <a:ext cx="2030015" cy="64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Text classification</a:t>
          </a:r>
          <a:endParaRPr lang="en-US" sz="2000" kern="1200" dirty="0"/>
        </a:p>
      </dsp:txBody>
      <dsp:txXfrm>
        <a:off x="3968" y="1868958"/>
        <a:ext cx="2030015" cy="643500"/>
      </dsp:txXfrm>
    </dsp:sp>
    <dsp:sp modelId="{881F0BB4-65F9-4B86-B4F2-9A073FBFEE04}">
      <dsp:nvSpPr>
        <dsp:cNvPr id="0" name=""/>
        <dsp:cNvSpPr/>
      </dsp:nvSpPr>
      <dsp:spPr>
        <a:xfrm>
          <a:off x="2033984" y="1868958"/>
          <a:ext cx="406003" cy="6435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D9142A-F1F5-426D-BCD0-083B663360C0}">
      <dsp:nvSpPr>
        <dsp:cNvPr id="0" name=""/>
        <dsp:cNvSpPr/>
      </dsp:nvSpPr>
      <dsp:spPr>
        <a:xfrm>
          <a:off x="2602388" y="1868958"/>
          <a:ext cx="5521642" cy="6435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l-GR" sz="2000" kern="1200" dirty="0" smtClean="0"/>
            <a:t>Σύγκριση αλγορίθμων</a:t>
          </a:r>
          <a:endParaRPr lang="en-US" sz="2000" kern="1200" dirty="0"/>
        </a:p>
      </dsp:txBody>
      <dsp:txXfrm>
        <a:off x="2602388" y="1868958"/>
        <a:ext cx="5521642" cy="643500"/>
      </dsp:txXfrm>
    </dsp:sp>
    <dsp:sp modelId="{C32D2C43-1C99-43D6-A496-5C7B16B4A9F7}">
      <dsp:nvSpPr>
        <dsp:cNvPr id="0" name=""/>
        <dsp:cNvSpPr/>
      </dsp:nvSpPr>
      <dsp:spPr>
        <a:xfrm>
          <a:off x="3968" y="2869083"/>
          <a:ext cx="2030015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Titanic </a:t>
          </a:r>
          <a:endParaRPr lang="en-US" sz="2000" kern="1200" dirty="0"/>
        </a:p>
      </dsp:txBody>
      <dsp:txXfrm>
        <a:off x="3968" y="2869083"/>
        <a:ext cx="2030015" cy="396000"/>
      </dsp:txXfrm>
    </dsp:sp>
    <dsp:sp modelId="{CC0E3B43-301F-4D27-8335-E7755B667AB7}">
      <dsp:nvSpPr>
        <dsp:cNvPr id="0" name=""/>
        <dsp:cNvSpPr/>
      </dsp:nvSpPr>
      <dsp:spPr>
        <a:xfrm>
          <a:off x="2033984" y="2584458"/>
          <a:ext cx="406003" cy="96525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0FFB9E-9989-4D5A-8B46-74BFB6716C46}">
      <dsp:nvSpPr>
        <dsp:cNvPr id="0" name=""/>
        <dsp:cNvSpPr/>
      </dsp:nvSpPr>
      <dsp:spPr>
        <a:xfrm>
          <a:off x="2602388" y="2584458"/>
          <a:ext cx="5521642" cy="96525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l-GR" sz="2000" kern="1200" dirty="0" smtClean="0"/>
            <a:t>Πρόβλεψη επιβίωσης </a:t>
          </a:r>
          <a:r>
            <a:rPr lang="en-US" sz="2000" kern="1200" dirty="0" smtClean="0">
              <a:hlinkClick xmlns:r="http://schemas.openxmlformats.org/officeDocument/2006/relationships" r:id="rId1"/>
            </a:rPr>
            <a:t>https://www.kaggle.com/code/alexisbcook/titanic-tutorial</a:t>
          </a:r>
          <a:endParaRPr lang="en-US" sz="2000" kern="1200" dirty="0"/>
        </a:p>
      </dsp:txBody>
      <dsp:txXfrm>
        <a:off x="2602388" y="2584458"/>
        <a:ext cx="5521642" cy="965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6C22F-0754-47EE-9FCE-7F5996C05E70}">
      <dsp:nvSpPr>
        <dsp:cNvPr id="0" name=""/>
        <dsp:cNvSpPr/>
      </dsp:nvSpPr>
      <dsp:spPr>
        <a:xfrm>
          <a:off x="3651719" y="2200187"/>
          <a:ext cx="1598371" cy="10353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6901259"/>
              <a:satOff val="30573"/>
              <a:lumOff val="-112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Gradient calculation</a:t>
          </a:r>
          <a:endParaRPr lang="en-US" sz="1500" kern="1200" dirty="0"/>
        </a:p>
      </dsp:txBody>
      <dsp:txXfrm>
        <a:off x="4153975" y="2481777"/>
        <a:ext cx="1073372" cy="731048"/>
      </dsp:txXfrm>
    </dsp:sp>
    <dsp:sp modelId="{0E42BCDE-8888-46C7-8F5D-B2799B2CCAB4}">
      <dsp:nvSpPr>
        <dsp:cNvPr id="0" name=""/>
        <dsp:cNvSpPr/>
      </dsp:nvSpPr>
      <dsp:spPr>
        <a:xfrm>
          <a:off x="1043850" y="2200187"/>
          <a:ext cx="1598371" cy="10353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Batches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epochs</a:t>
          </a:r>
          <a:endParaRPr lang="en-US" sz="1500" kern="1200" dirty="0"/>
        </a:p>
      </dsp:txBody>
      <dsp:txXfrm>
        <a:off x="1066594" y="2481777"/>
        <a:ext cx="1073372" cy="731048"/>
      </dsp:txXfrm>
    </dsp:sp>
    <dsp:sp modelId="{70D90C83-C882-4E55-8C28-9C18ADBC5ECD}">
      <dsp:nvSpPr>
        <dsp:cNvPr id="0" name=""/>
        <dsp:cNvSpPr/>
      </dsp:nvSpPr>
      <dsp:spPr>
        <a:xfrm>
          <a:off x="3439351" y="0"/>
          <a:ext cx="2023106" cy="10353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450629"/>
              <a:satOff val="15286"/>
              <a:lumOff val="-56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Loss function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Vs real value</a:t>
          </a:r>
          <a:endParaRPr lang="en-US" sz="1500" kern="1200" dirty="0"/>
        </a:p>
      </dsp:txBody>
      <dsp:txXfrm>
        <a:off x="4069028" y="22744"/>
        <a:ext cx="1370686" cy="731048"/>
      </dsp:txXfrm>
    </dsp:sp>
    <dsp:sp modelId="{AC0756A6-C1E5-45B3-A792-707814D646A4}">
      <dsp:nvSpPr>
        <dsp:cNvPr id="0" name=""/>
        <dsp:cNvSpPr/>
      </dsp:nvSpPr>
      <dsp:spPr>
        <a:xfrm>
          <a:off x="1043850" y="0"/>
          <a:ext cx="1598371" cy="10353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Forward pass</a:t>
          </a:r>
          <a:endParaRPr lang="en-US" sz="1500" kern="1200" dirty="0"/>
        </a:p>
      </dsp:txBody>
      <dsp:txXfrm>
        <a:off x="1066594" y="22744"/>
        <a:ext cx="1073372" cy="731048"/>
      </dsp:txXfrm>
    </dsp:sp>
    <dsp:sp modelId="{1A7BE157-45F0-4056-871E-8E4C3B76C36F}">
      <dsp:nvSpPr>
        <dsp:cNvPr id="0" name=""/>
        <dsp:cNvSpPr/>
      </dsp:nvSpPr>
      <dsp:spPr>
        <a:xfrm>
          <a:off x="1819796" y="184427"/>
          <a:ext cx="1401001" cy="1401001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PREDICT</a:t>
          </a:r>
          <a:endParaRPr lang="en-US" sz="1300" kern="1200" dirty="0"/>
        </a:p>
      </dsp:txBody>
      <dsp:txXfrm>
        <a:off x="2230140" y="594771"/>
        <a:ext cx="990657" cy="990657"/>
      </dsp:txXfrm>
    </dsp:sp>
    <dsp:sp modelId="{93D53E04-791E-49C1-8B65-4641BD0C4FEE}">
      <dsp:nvSpPr>
        <dsp:cNvPr id="0" name=""/>
        <dsp:cNvSpPr/>
      </dsp:nvSpPr>
      <dsp:spPr>
        <a:xfrm rot="5400000">
          <a:off x="3285510" y="184427"/>
          <a:ext cx="1401001" cy="1401001"/>
        </a:xfrm>
        <a:prstGeom prst="pieWedge">
          <a:avLst/>
        </a:prstGeom>
        <a:solidFill>
          <a:schemeClr val="accent2">
            <a:hueOff val="-3450629"/>
            <a:satOff val="15286"/>
            <a:lumOff val="-56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MEASURE</a:t>
          </a:r>
          <a:endParaRPr lang="en-US" sz="1300" kern="1200" dirty="0"/>
        </a:p>
      </dsp:txBody>
      <dsp:txXfrm rot="-5400000">
        <a:off x="3285510" y="594771"/>
        <a:ext cx="990657" cy="990657"/>
      </dsp:txXfrm>
    </dsp:sp>
    <dsp:sp modelId="{75D65345-F62D-4817-A674-577CB2034343}">
      <dsp:nvSpPr>
        <dsp:cNvPr id="0" name=""/>
        <dsp:cNvSpPr/>
      </dsp:nvSpPr>
      <dsp:spPr>
        <a:xfrm rot="10800000">
          <a:off x="3285510" y="1650140"/>
          <a:ext cx="1401001" cy="1401001"/>
        </a:xfrm>
        <a:prstGeom prst="pieWedge">
          <a:avLst/>
        </a:prstGeom>
        <a:solidFill>
          <a:schemeClr val="accent2">
            <a:hueOff val="-6901259"/>
            <a:satOff val="30573"/>
            <a:lumOff val="-112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CORRECT</a:t>
          </a:r>
          <a:endParaRPr lang="en-US" sz="1300" kern="1200" dirty="0"/>
        </a:p>
      </dsp:txBody>
      <dsp:txXfrm rot="10800000">
        <a:off x="3285510" y="1650140"/>
        <a:ext cx="990657" cy="990657"/>
      </dsp:txXfrm>
    </dsp:sp>
    <dsp:sp modelId="{762F94F0-20B3-420B-9201-A64079CC5A1E}">
      <dsp:nvSpPr>
        <dsp:cNvPr id="0" name=""/>
        <dsp:cNvSpPr/>
      </dsp:nvSpPr>
      <dsp:spPr>
        <a:xfrm rot="16200000">
          <a:off x="1819796" y="1650140"/>
          <a:ext cx="1401001" cy="1401001"/>
        </a:xfrm>
        <a:prstGeom prst="pieWedge">
          <a:avLst/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REPEAT</a:t>
          </a:r>
          <a:endParaRPr lang="en-US" sz="1300" kern="1200" dirty="0"/>
        </a:p>
      </dsp:txBody>
      <dsp:txXfrm rot="5400000">
        <a:off x="2230140" y="1650140"/>
        <a:ext cx="990657" cy="990657"/>
      </dsp:txXfrm>
    </dsp:sp>
    <dsp:sp modelId="{64D75425-611B-4C3D-9573-AEB126858C88}">
      <dsp:nvSpPr>
        <dsp:cNvPr id="0" name=""/>
        <dsp:cNvSpPr/>
      </dsp:nvSpPr>
      <dsp:spPr>
        <a:xfrm>
          <a:off x="3011295" y="1326583"/>
          <a:ext cx="483717" cy="420624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602AA-1D85-4051-9E37-B044AB9D03EF}">
      <dsp:nvSpPr>
        <dsp:cNvPr id="0" name=""/>
        <dsp:cNvSpPr/>
      </dsp:nvSpPr>
      <dsp:spPr>
        <a:xfrm rot="10800000">
          <a:off x="3011295" y="1488362"/>
          <a:ext cx="483717" cy="420624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4E9E1-2FC5-4DAC-AEAF-47302B692393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E522C-7FAB-457C-8E09-BBCEC3F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88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 patterns and relationships between different items in a dataset. It looks for rules like “people who buy X often also buy Y”.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1E522C-7FAB-457C-8E09-BBCEC3FB98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38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3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1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56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8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981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1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40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95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40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94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58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E6B5FA3-520A-4ACF-B928-0D8E7C6059D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29765C0-7791-418B-8B59-F932AD04C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2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getting-started-with-classification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getting-started-with-classificatio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geeksforgeeks.org/machine-learning/supervised-unsupervised-learning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supervised-unsupervised-learning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stamp/stamp.jsp?tp=&amp;arnumber=10311086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link.springer.com/article/10.1186/s40537-019-0276-2" TargetMode="Externa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machine-learning/naive-bayes-classifiers/" TargetMode="External"/><Relationship Id="rId13" Type="http://schemas.openxmlformats.org/officeDocument/2006/relationships/hyperlink" Target="https://www.geeksforgeeks.org/machine-learning/What-is-Bagging-classifier/" TargetMode="External"/><Relationship Id="rId3" Type="http://schemas.openxmlformats.org/officeDocument/2006/relationships/hyperlink" Target="https://www.geeksforgeeks.org/machine-learning/support-vector-machine-algorithm/" TargetMode="External"/><Relationship Id="rId7" Type="http://schemas.openxmlformats.org/officeDocument/2006/relationships/hyperlink" Target="https://www.geeksforgeeks.org/machine-learning/major-kernel-functions-in-support-vector-machine-svm/" TargetMode="External"/><Relationship Id="rId12" Type="http://schemas.openxmlformats.org/officeDocument/2006/relationships/hyperlink" Target="https://www.geeksforgeeks.org/machine-learning/implementing-the-adaboost-algorithm-from-scratch/" TargetMode="External"/><Relationship Id="rId17" Type="http://schemas.openxmlformats.org/officeDocument/2006/relationships/hyperlink" Target="https://www.geeksforgeeks.org/machine-learning/getting-started-with-classification/" TargetMode="External"/><Relationship Id="rId2" Type="http://schemas.openxmlformats.org/officeDocument/2006/relationships/hyperlink" Target="https://www.geeksforgeeks.org/machine-learning/understanding-logistic-regression/" TargetMode="External"/><Relationship Id="rId16" Type="http://schemas.openxmlformats.org/officeDocument/2006/relationships/hyperlink" Target="https://www.geeksforgeeks.org/deep-learning/multi-layer-perceptron-learning-in-tensorflow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geeksforgeeks.org/machine-learning/k-nearest-neighbours/" TargetMode="External"/><Relationship Id="rId11" Type="http://schemas.openxmlformats.org/officeDocument/2006/relationships/hyperlink" Target="https://www.geeksforgeeks.org/dsa/random-forest-classifier-using-scikit-learn/" TargetMode="External"/><Relationship Id="rId5" Type="http://schemas.openxmlformats.org/officeDocument/2006/relationships/hyperlink" Target="https://www.geeksforgeeks.org/python/stochastic-gradient-descent-classifier/" TargetMode="External"/><Relationship Id="rId15" Type="http://schemas.openxmlformats.org/officeDocument/2006/relationships/hyperlink" Target="https://www.geeksforgeeks.org/machine-learning/ml-extra-tree-classifier-for-feature-selection/" TargetMode="External"/><Relationship Id="rId10" Type="http://schemas.openxmlformats.org/officeDocument/2006/relationships/hyperlink" Target="https://www.geeksforgeeks.org/machine-learning/ensemble-classifier-data-mining/" TargetMode="External"/><Relationship Id="rId4" Type="http://schemas.openxmlformats.org/officeDocument/2006/relationships/hyperlink" Target="https://www.geeksforgeeks.org/python/single-layer-perceptron-in-tensorflow/" TargetMode="External"/><Relationship Id="rId9" Type="http://schemas.openxmlformats.org/officeDocument/2006/relationships/hyperlink" Target="https://www.geeksforgeeks.org/machine-learning/decision-tree/" TargetMode="External"/><Relationship Id="rId14" Type="http://schemas.openxmlformats.org/officeDocument/2006/relationships/hyperlink" Target="https://www.geeksforgeeks.org/machine-learning/ml-voting-classifier-using-sklearn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Program%20Files/Microsoft%20VS%20Code/resources/app/out/vs/code/electron-sandbox/workbench/workbench.html" TargetMode="External"/><Relationship Id="rId2" Type="http://schemas.openxmlformats.org/officeDocument/2006/relationships/hyperlink" Target="https://www.geeksforgeeks.org/machine-learning/naive-bayes-classifier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Julia_(programming_language)" TargetMode="External"/><Relationship Id="rId13" Type="http://schemas.openxmlformats.org/officeDocument/2006/relationships/hyperlink" Target="https://en.wikipedia.org/wiki/Linux" TargetMode="External"/><Relationship Id="rId18" Type="http://schemas.openxmlformats.org/officeDocument/2006/relationships/hyperlink" Target="https://xgboost.readthedocs.io/en/stable/tutorials/model.html" TargetMode="External"/><Relationship Id="rId3" Type="http://schemas.openxmlformats.org/officeDocument/2006/relationships/hyperlink" Target="https://en.wikipedia.org/wiki/Java_(programming_language)" TargetMode="External"/><Relationship Id="rId7" Type="http://schemas.openxmlformats.org/officeDocument/2006/relationships/hyperlink" Target="https://en.wikipedia.org/wiki/XGBoost#cite_note-xgboost-cran-4" TargetMode="External"/><Relationship Id="rId12" Type="http://schemas.openxmlformats.org/officeDocument/2006/relationships/hyperlink" Target="https://en.wikipedia.org/wiki/Scala_(programming_language)" TargetMode="External"/><Relationship Id="rId17" Type="http://schemas.openxmlformats.org/officeDocument/2006/relationships/hyperlink" Target="https://en.wikipedia.org/wiki/XGBoost#cite_note-xgboost-macos-8" TargetMode="External"/><Relationship Id="rId2" Type="http://schemas.openxmlformats.org/officeDocument/2006/relationships/hyperlink" Target="https://en.wikipedia.org/wiki/C%2B%2B" TargetMode="External"/><Relationship Id="rId16" Type="http://schemas.openxmlformats.org/officeDocument/2006/relationships/hyperlink" Target="https://en.wikipedia.org/wiki/MacO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R_(programming_language)" TargetMode="External"/><Relationship Id="rId11" Type="http://schemas.openxmlformats.org/officeDocument/2006/relationships/hyperlink" Target="https://en.wikipedia.org/wiki/XGBoost#cite_note-xgboost-perl-6" TargetMode="External"/><Relationship Id="rId5" Type="http://schemas.openxmlformats.org/officeDocument/2006/relationships/hyperlink" Target="https://en.wikipedia.org/wiki/XGBoost#cite_note-xgboost-python-3" TargetMode="External"/><Relationship Id="rId15" Type="http://schemas.openxmlformats.org/officeDocument/2006/relationships/hyperlink" Target="https://en.wikipedia.org/wiki/XGBoost#cite_note-xgboost-windows-7" TargetMode="External"/><Relationship Id="rId10" Type="http://schemas.openxmlformats.org/officeDocument/2006/relationships/hyperlink" Target="https://en.wikipedia.org/wiki/Perl_(programming_language)" TargetMode="External"/><Relationship Id="rId4" Type="http://schemas.openxmlformats.org/officeDocument/2006/relationships/hyperlink" Target="https://en.wikipedia.org/wiki/Python_(programming_language)" TargetMode="External"/><Relationship Id="rId9" Type="http://schemas.openxmlformats.org/officeDocument/2006/relationships/hyperlink" Target="https://en.wikipedia.org/wiki/XGBoost#cite_note-xgboost-julia-5" TargetMode="External"/><Relationship Id="rId14" Type="http://schemas.openxmlformats.org/officeDocument/2006/relationships/hyperlink" Target="https://en.wikipedia.org/wiki/Microsoft_Windows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xgboost.readthedocs.io/en/stable/tutorials/model.html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alexisbcook/titanic-tutorial" TargetMode="External"/><Relationship Id="rId2" Type="http://schemas.openxmlformats.org/officeDocument/2006/relationships/hyperlink" Target="https://www.kaggle.com/competitions/titanic/overview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l-GR" dirty="0" smtClean="0"/>
              <a:t>Μάνια Ζωγράφου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34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84" y="2722646"/>
            <a:ext cx="8991600" cy="1645920"/>
          </a:xfrm>
        </p:spPr>
        <p:txBody>
          <a:bodyPr/>
          <a:lstStyle/>
          <a:p>
            <a:r>
              <a:rPr lang="en-US" dirty="0" smtClean="0"/>
              <a:t>Intro to classification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36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47451"/>
            <a:ext cx="7729728" cy="1188720"/>
          </a:xfrm>
        </p:spPr>
        <p:txBody>
          <a:bodyPr/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42" y="2058035"/>
            <a:ext cx="9731116" cy="40018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30442" y="6162496"/>
            <a:ext cx="98729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https://www.geeksforgeeks.org/machine-learning/getting-started-with-classification</a:t>
            </a:r>
            <a:r>
              <a:rPr lang="en-US" dirty="0" smtClean="0">
                <a:hlinkClick r:id="rId3"/>
              </a:rPr>
              <a:t>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21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42" y="2058035"/>
            <a:ext cx="9731116" cy="40018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47451"/>
            <a:ext cx="7729728" cy="1188720"/>
          </a:xfrm>
        </p:spPr>
        <p:txBody>
          <a:bodyPr/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71590" y="2360645"/>
            <a:ext cx="24819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pam vs not spam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671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47451"/>
            <a:ext cx="7729728" cy="1188720"/>
          </a:xfrm>
        </p:spPr>
        <p:txBody>
          <a:bodyPr/>
          <a:lstStyle/>
          <a:p>
            <a:r>
              <a:rPr lang="en-US" dirty="0" smtClean="0"/>
              <a:t>TYPES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1136" y="2395448"/>
            <a:ext cx="7729728" cy="3101983"/>
          </a:xfrm>
        </p:spPr>
        <p:txBody>
          <a:bodyPr>
            <a:normAutofit/>
          </a:bodyPr>
          <a:lstStyle/>
          <a:p>
            <a:r>
              <a:rPr lang="en-US" b="1" dirty="0" smtClean="0"/>
              <a:t>Binary Classification</a:t>
            </a:r>
          </a:p>
          <a:p>
            <a:pPr lvl="1"/>
            <a:r>
              <a:rPr lang="en-US" i="1" dirty="0" smtClean="0"/>
              <a:t>0 or 1</a:t>
            </a:r>
            <a:endParaRPr lang="en-US" i="1" dirty="0"/>
          </a:p>
          <a:p>
            <a:endParaRPr lang="en-US" b="1" dirty="0" smtClean="0"/>
          </a:p>
          <a:p>
            <a:r>
              <a:rPr lang="en-US" b="1" dirty="0"/>
              <a:t>Multiclass </a:t>
            </a:r>
            <a:r>
              <a:rPr lang="en-US" b="1" dirty="0" smtClean="0"/>
              <a:t>Classification</a:t>
            </a:r>
          </a:p>
          <a:p>
            <a:pPr lvl="1"/>
            <a:r>
              <a:rPr lang="en-US" b="1" i="1" dirty="0"/>
              <a:t>cat</a:t>
            </a:r>
            <a:r>
              <a:rPr lang="en-US" i="1" dirty="0"/>
              <a:t>, </a:t>
            </a:r>
            <a:r>
              <a:rPr lang="en-US" b="1" i="1" dirty="0"/>
              <a:t>dog</a:t>
            </a:r>
            <a:r>
              <a:rPr lang="en-US" i="1" dirty="0"/>
              <a:t>, and </a:t>
            </a:r>
            <a:r>
              <a:rPr lang="en-US" b="1" i="1" dirty="0" smtClean="0"/>
              <a:t>bird</a:t>
            </a:r>
          </a:p>
          <a:p>
            <a:pPr lvl="1"/>
            <a:endParaRPr lang="en-US" b="1" i="1" dirty="0"/>
          </a:p>
          <a:p>
            <a:r>
              <a:rPr lang="en-US" b="1" dirty="0" smtClean="0"/>
              <a:t>Multi-Label Classification</a:t>
            </a:r>
          </a:p>
          <a:p>
            <a:pPr lvl="1"/>
            <a:r>
              <a:rPr lang="en-US" i="1" dirty="0" smtClean="0"/>
              <a:t>movie </a:t>
            </a:r>
            <a:r>
              <a:rPr lang="en-US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⇛</a:t>
            </a:r>
            <a:r>
              <a:rPr lang="en-US" i="1" dirty="0" smtClean="0"/>
              <a:t> </a:t>
            </a:r>
            <a:r>
              <a:rPr lang="en-US" i="1" dirty="0"/>
              <a:t> </a:t>
            </a:r>
            <a:r>
              <a:rPr lang="en-US" b="1" i="1" dirty="0"/>
              <a:t>action</a:t>
            </a:r>
            <a:r>
              <a:rPr lang="en-US" i="1" dirty="0"/>
              <a:t> and </a:t>
            </a:r>
            <a:r>
              <a:rPr lang="en-US" b="1" i="1" dirty="0"/>
              <a:t>comedy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16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47451"/>
            <a:ext cx="7729728" cy="1188720"/>
          </a:xfrm>
        </p:spPr>
        <p:txBody>
          <a:bodyPr/>
          <a:lstStyle/>
          <a:p>
            <a:r>
              <a:rPr lang="en-US" dirty="0" smtClean="0"/>
              <a:t>TYPES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905" y="2401090"/>
            <a:ext cx="8270190" cy="351891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30442" y="6162496"/>
            <a:ext cx="98729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https://www.geeksforgeeks.org/machine-learning/getting-started-with-classification</a:t>
            </a:r>
            <a:r>
              <a:rPr lang="en-US" dirty="0" smtClean="0">
                <a:hlinkClick r:id="rId3"/>
              </a:rPr>
              <a:t>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80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47451"/>
            <a:ext cx="7729728" cy="1188720"/>
          </a:xfrm>
        </p:spPr>
        <p:txBody>
          <a:bodyPr/>
          <a:lstStyle/>
          <a:p>
            <a:r>
              <a:rPr lang="en-US" dirty="0" smtClean="0"/>
              <a:t>TYPES</a:t>
            </a:r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067372150"/>
              </p:ext>
            </p:extLst>
          </p:nvPr>
        </p:nvGraphicFramePr>
        <p:xfrm>
          <a:off x="2787002" y="1733534"/>
          <a:ext cx="6617996" cy="4228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08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Unsupervised vs supervised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18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9391357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/>
          <p:cNvSpPr/>
          <p:nvPr/>
        </p:nvSpPr>
        <p:spPr>
          <a:xfrm>
            <a:off x="1549475" y="5553558"/>
            <a:ext cx="24253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273239"/>
                </a:solidFill>
                <a:latin typeface="Nunito"/>
              </a:rPr>
              <a:t>predict </a:t>
            </a:r>
            <a:r>
              <a:rPr lang="en-US" sz="1600" b="1" dirty="0" smtClean="0">
                <a:solidFill>
                  <a:srgbClr val="273239"/>
                </a:solidFill>
                <a:latin typeface="Nunito"/>
              </a:rPr>
              <a:t>continuous</a:t>
            </a:r>
          </a:p>
          <a:p>
            <a:pPr algn="ctr"/>
            <a:r>
              <a:rPr lang="en-US" sz="1600" dirty="0" smtClean="0">
                <a:solidFill>
                  <a:srgbClr val="273239"/>
                </a:solidFill>
                <a:latin typeface="Nunito"/>
              </a:rPr>
              <a:t>values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6298821" y="5676668"/>
            <a:ext cx="18710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273239"/>
                </a:solidFill>
                <a:latin typeface="Nunito"/>
              </a:rPr>
              <a:t>group</a:t>
            </a:r>
            <a:r>
              <a:rPr lang="en-US" sz="1600" dirty="0">
                <a:solidFill>
                  <a:srgbClr val="273239"/>
                </a:solidFill>
                <a:latin typeface="Nunito"/>
              </a:rPr>
              <a:t> similar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8397241" y="5553558"/>
            <a:ext cx="18427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273239"/>
                </a:solidFill>
                <a:latin typeface="Nunito"/>
              </a:rPr>
              <a:t>find patterns and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095144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33588" y="5653092"/>
            <a:ext cx="94923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https://www.geeksforgeeks.org/machine-learning/supervised-unsupervised-learning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588" y="823917"/>
            <a:ext cx="812482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3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1552313"/>
            <a:ext cx="10050278" cy="37533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33588" y="5653092"/>
            <a:ext cx="94923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https://www.geeksforgeeks.org/machine-learning/supervised-unsupervised-learning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234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83436" y="1894148"/>
            <a:ext cx="4270248" cy="439098"/>
          </a:xfrm>
        </p:spPr>
        <p:txBody>
          <a:bodyPr>
            <a:normAutofit/>
          </a:bodyPr>
          <a:lstStyle/>
          <a:p>
            <a:r>
              <a:rPr lang="en-US" b="1" dirty="0" smtClean="0"/>
              <a:t>Unsupervised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583436" y="2276282"/>
            <a:ext cx="4270248" cy="1312738"/>
          </a:xfrm>
        </p:spPr>
        <p:txBody>
          <a:bodyPr>
            <a:normAutofit/>
          </a:bodyPr>
          <a:lstStyle/>
          <a:p>
            <a:pPr fontAlgn="base"/>
            <a:r>
              <a:rPr lang="en-US" b="1" dirty="0" smtClean="0"/>
              <a:t>Anomaly detection (e.g. </a:t>
            </a:r>
            <a:r>
              <a:rPr lang="en-US" b="1" dirty="0" err="1" smtClean="0"/>
              <a:t>pca</a:t>
            </a:r>
            <a:r>
              <a:rPr lang="en-US" b="1" dirty="0" smtClean="0"/>
              <a:t>)</a:t>
            </a:r>
            <a:endParaRPr lang="en-US" dirty="0" smtClean="0"/>
          </a:p>
          <a:p>
            <a:pPr fontAlgn="base"/>
            <a:r>
              <a:rPr lang="en-US" b="1" dirty="0" smtClean="0"/>
              <a:t>Scientific discovery</a:t>
            </a:r>
          </a:p>
          <a:p>
            <a:pPr fontAlgn="base"/>
            <a:r>
              <a:rPr lang="en-US" b="1" dirty="0" smtClean="0"/>
              <a:t>Recommendation systems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6355080" y="2331790"/>
            <a:ext cx="4253484" cy="1197796"/>
          </a:xfrm>
        </p:spPr>
        <p:txBody>
          <a:bodyPr>
            <a:normAutofit/>
          </a:bodyPr>
          <a:lstStyle/>
          <a:p>
            <a:pPr fontAlgn="base"/>
            <a:r>
              <a:rPr lang="en-US" b="1" dirty="0" smtClean="0"/>
              <a:t>Image classification</a:t>
            </a:r>
          </a:p>
          <a:p>
            <a:pPr fontAlgn="base"/>
            <a:r>
              <a:rPr lang="en-US" b="1" dirty="0" smtClean="0"/>
              <a:t>Medical diagnosis</a:t>
            </a:r>
          </a:p>
          <a:p>
            <a:pPr fontAlgn="base"/>
            <a:r>
              <a:rPr lang="en-US" b="1" dirty="0" smtClean="0"/>
              <a:t>NLP/Fraud detection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1894148"/>
            <a:ext cx="4270248" cy="439099"/>
          </a:xfrm>
        </p:spPr>
        <p:txBody>
          <a:bodyPr/>
          <a:lstStyle/>
          <a:p>
            <a:r>
              <a:rPr lang="en-US" b="1" dirty="0" smtClean="0"/>
              <a:t>SUPERVISED</a:t>
            </a:r>
            <a:endParaRPr lang="en-US" b="1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31136" y="647451"/>
            <a:ext cx="7729728" cy="1188720"/>
          </a:xfrm>
        </p:spPr>
        <p:txBody>
          <a:bodyPr/>
          <a:lstStyle/>
          <a:p>
            <a:r>
              <a:rPr lang="en-US" dirty="0" err="1" smtClean="0"/>
              <a:t>applicationS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13" y="3467101"/>
            <a:ext cx="2861493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4935" y="6463574"/>
            <a:ext cx="47558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https://ieeexplore.ieee.org/stamp/stamp.jsp?tp=&amp;</a:t>
            </a:r>
            <a:r>
              <a:rPr lang="en-US" sz="1200" dirty="0" smtClean="0">
                <a:hlinkClick r:id="rId3"/>
              </a:rPr>
              <a:t>arnumber=10311086</a:t>
            </a:r>
            <a:endParaRPr lang="en-US" sz="1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453" y="3557162"/>
            <a:ext cx="5232737" cy="22577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865453" y="5803326"/>
            <a:ext cx="38929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hlinkClick r:id="rId5"/>
              </a:rPr>
              <a:t>https://link.springer.com/article/10.1186/s40537-019-0276-2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5110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844" y="1998746"/>
            <a:ext cx="8991600" cy="1645920"/>
          </a:xfrm>
        </p:spPr>
        <p:txBody>
          <a:bodyPr/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00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7339" y="1967484"/>
            <a:ext cx="4271771" cy="3101982"/>
          </a:xfrm>
        </p:spPr>
        <p:txBody>
          <a:bodyPr>
            <a:normAutofit/>
          </a:bodyPr>
          <a:lstStyle/>
          <a:p>
            <a:pPr fontAlgn="base"/>
            <a:r>
              <a:rPr lang="en-US" sz="1200" u="sng" dirty="0">
                <a:hlinkClick r:id="rId2"/>
              </a:rPr>
              <a:t>Logistic Regression</a:t>
            </a:r>
            <a:endParaRPr lang="en-US" sz="1200" dirty="0"/>
          </a:p>
          <a:p>
            <a:pPr fontAlgn="base"/>
            <a:r>
              <a:rPr lang="en-US" sz="1200" u="sng" dirty="0">
                <a:hlinkClick r:id="rId3"/>
              </a:rPr>
              <a:t>Support Vector Machines having kernel = 'linear'</a:t>
            </a:r>
            <a:endParaRPr lang="en-US" sz="1200" dirty="0"/>
          </a:p>
          <a:p>
            <a:pPr fontAlgn="base"/>
            <a:r>
              <a:rPr lang="en-US" sz="1200" u="sng" dirty="0">
                <a:hlinkClick r:id="rId4"/>
              </a:rPr>
              <a:t>Single-layer Perceptron</a:t>
            </a:r>
            <a:endParaRPr lang="en-US" sz="1200" dirty="0"/>
          </a:p>
          <a:p>
            <a:pPr fontAlgn="base"/>
            <a:r>
              <a:rPr lang="en-US" sz="1200" u="sng" dirty="0">
                <a:hlinkClick r:id="rId5"/>
              </a:rPr>
              <a:t>Stochastic Gradient Descent (SGD) Classifier</a:t>
            </a:r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99275" y="1967484"/>
            <a:ext cx="4270247" cy="3101982"/>
          </a:xfrm>
        </p:spPr>
        <p:txBody>
          <a:bodyPr>
            <a:noAutofit/>
          </a:bodyPr>
          <a:lstStyle/>
          <a:p>
            <a:pPr fontAlgn="base"/>
            <a:r>
              <a:rPr lang="en-US" sz="1200" u="sng" dirty="0">
                <a:hlinkClick r:id="rId6"/>
              </a:rPr>
              <a:t>K-Nearest </a:t>
            </a:r>
            <a:r>
              <a:rPr lang="en-US" sz="1200" u="sng" dirty="0" err="1">
                <a:hlinkClick r:id="rId6"/>
              </a:rPr>
              <a:t>Neighbours</a:t>
            </a:r>
            <a:endParaRPr lang="en-US" sz="1200" dirty="0"/>
          </a:p>
          <a:p>
            <a:pPr fontAlgn="base"/>
            <a:r>
              <a:rPr lang="en-US" sz="1200" u="sng" dirty="0">
                <a:hlinkClick r:id="rId7"/>
              </a:rPr>
              <a:t>Kernel SVM</a:t>
            </a:r>
            <a:endParaRPr lang="en-US" sz="1200" dirty="0"/>
          </a:p>
          <a:p>
            <a:pPr fontAlgn="base"/>
            <a:r>
              <a:rPr lang="en-US" sz="1200" u="sng" dirty="0">
                <a:hlinkClick r:id="rId8"/>
              </a:rPr>
              <a:t>Naive Bayes</a:t>
            </a:r>
            <a:endParaRPr lang="en-US" sz="1200" dirty="0"/>
          </a:p>
          <a:p>
            <a:pPr fontAlgn="base"/>
            <a:r>
              <a:rPr lang="en-US" sz="1200" u="sng" dirty="0">
                <a:hlinkClick r:id="rId9"/>
              </a:rPr>
              <a:t>Decision Tree Classification</a:t>
            </a:r>
            <a:endParaRPr lang="en-US" sz="1200" dirty="0"/>
          </a:p>
          <a:p>
            <a:pPr fontAlgn="base"/>
            <a:r>
              <a:rPr lang="en-US" sz="1200" u="sng" dirty="0">
                <a:hlinkClick r:id="rId10"/>
              </a:rPr>
              <a:t>Ensemble learning classifiers: </a:t>
            </a:r>
            <a:r>
              <a:rPr lang="en-US" sz="1200" u="sng" dirty="0" smtClean="0"/>
              <a:t>(</a:t>
            </a:r>
            <a:r>
              <a:rPr lang="en-US" sz="1200" u="sng" dirty="0" err="1" smtClean="0"/>
              <a:t>XGBoost</a:t>
            </a:r>
            <a:r>
              <a:rPr lang="en-US" sz="1200" u="sng" dirty="0" smtClean="0"/>
              <a:t>)</a:t>
            </a:r>
            <a:endParaRPr lang="en-US" sz="1200" dirty="0"/>
          </a:p>
          <a:p>
            <a:pPr fontAlgn="base"/>
            <a:r>
              <a:rPr lang="en-US" sz="1200" u="sng" dirty="0">
                <a:hlinkClick r:id="rId11"/>
              </a:rPr>
              <a:t>Random Forests, </a:t>
            </a:r>
            <a:endParaRPr lang="en-US" sz="1200" dirty="0"/>
          </a:p>
          <a:p>
            <a:pPr fontAlgn="base"/>
            <a:r>
              <a:rPr lang="en-US" sz="1200" u="sng" dirty="0" err="1">
                <a:hlinkClick r:id="rId12"/>
              </a:rPr>
              <a:t>AdaBoost</a:t>
            </a:r>
            <a:r>
              <a:rPr lang="en-US" sz="1200" u="sng" dirty="0">
                <a:hlinkClick r:id="rId12"/>
              </a:rPr>
              <a:t>, </a:t>
            </a:r>
            <a:endParaRPr lang="en-US" sz="1200" dirty="0"/>
          </a:p>
          <a:p>
            <a:pPr fontAlgn="base"/>
            <a:r>
              <a:rPr lang="en-US" sz="1200" u="sng" dirty="0">
                <a:hlinkClick r:id="rId13"/>
              </a:rPr>
              <a:t>Bagging Classifier, </a:t>
            </a:r>
            <a:endParaRPr lang="en-US" sz="1200" dirty="0"/>
          </a:p>
          <a:p>
            <a:pPr fontAlgn="base"/>
            <a:r>
              <a:rPr lang="en-US" sz="1200" u="sng" dirty="0">
                <a:hlinkClick r:id="rId14"/>
              </a:rPr>
              <a:t>Voting Classifier, </a:t>
            </a:r>
            <a:endParaRPr lang="en-US" sz="1200" dirty="0"/>
          </a:p>
          <a:p>
            <a:pPr fontAlgn="base"/>
            <a:r>
              <a:rPr lang="en-US" sz="1200" u="sng" dirty="0">
                <a:hlinkClick r:id="rId15"/>
              </a:rPr>
              <a:t>Extra Trees Classifier</a:t>
            </a:r>
            <a:endParaRPr lang="en-US" sz="1200" dirty="0"/>
          </a:p>
          <a:p>
            <a:pPr fontAlgn="base"/>
            <a:r>
              <a:rPr lang="en-US" sz="1200" u="sng" dirty="0">
                <a:hlinkClick r:id="rId16"/>
              </a:rPr>
              <a:t>Multi-layer Artificial Neural </a:t>
            </a:r>
            <a:r>
              <a:rPr lang="en-US" sz="1200" u="sng" dirty="0" smtClean="0">
                <a:hlinkClick r:id="rId16"/>
              </a:rPr>
              <a:t>Networks</a:t>
            </a:r>
            <a:endParaRPr lang="en-US" sz="12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338315" y="507182"/>
            <a:ext cx="4276344" cy="1188720"/>
          </a:xfrm>
        </p:spPr>
        <p:txBody>
          <a:bodyPr>
            <a:normAutofit/>
          </a:bodyPr>
          <a:lstStyle/>
          <a:p>
            <a:r>
              <a:rPr lang="en-US" dirty="0"/>
              <a:t>Non-linear </a:t>
            </a:r>
            <a:r>
              <a:rPr lang="en-US" dirty="0" smtClean="0"/>
              <a:t>Classifiers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 bwMode="black">
          <a:xfrm>
            <a:off x="1577339" y="507182"/>
            <a:ext cx="4276344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linear Classifiers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51458" y="6396335"/>
            <a:ext cx="89077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17"/>
              </a:rPr>
              <a:t>https://www.geeksforgeeks.org/machine-learning/getting-started-with-classification</a:t>
            </a:r>
            <a:r>
              <a:rPr lang="en-US" sz="1200" dirty="0" smtClean="0">
                <a:hlinkClick r:id="rId17"/>
              </a:rPr>
              <a:t>/</a:t>
            </a:r>
            <a:endParaRPr lang="en-US" sz="1200" dirty="0" smtClean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4723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47451"/>
            <a:ext cx="7729728" cy="1188720"/>
          </a:xfrm>
        </p:spPr>
        <p:txBody>
          <a:bodyPr/>
          <a:lstStyle/>
          <a:p>
            <a:r>
              <a:rPr lang="en-US" dirty="0" smtClean="0"/>
              <a:t>steps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79780" y="2343959"/>
            <a:ext cx="763244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+mj-lt"/>
              <a:buAutoNum type="arabicPeriod"/>
            </a:pPr>
            <a:r>
              <a:rPr lang="en-US" b="1" dirty="0">
                <a:solidFill>
                  <a:srgbClr val="273239"/>
                </a:solidFill>
                <a:latin typeface="Nunito"/>
              </a:rPr>
              <a:t>Data </a:t>
            </a:r>
            <a:r>
              <a:rPr lang="en-US" b="1" dirty="0" smtClean="0">
                <a:solidFill>
                  <a:srgbClr val="273239"/>
                </a:solidFill>
                <a:latin typeface="Nunito"/>
              </a:rPr>
              <a:t>Collection</a:t>
            </a:r>
            <a:endParaRPr lang="en-US" dirty="0">
              <a:solidFill>
                <a:srgbClr val="273239"/>
              </a:solidFill>
              <a:latin typeface="Nunito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273239"/>
                </a:solidFill>
                <a:latin typeface="Nunito"/>
              </a:rPr>
              <a:t>Labelled data</a:t>
            </a:r>
          </a:p>
          <a:p>
            <a:pPr fontAlgn="base">
              <a:buFont typeface="+mj-lt"/>
              <a:buAutoNum type="arabicPeriod"/>
            </a:pPr>
            <a:r>
              <a:rPr lang="en-US" b="1" dirty="0" smtClean="0">
                <a:solidFill>
                  <a:srgbClr val="273239"/>
                </a:solidFill>
                <a:latin typeface="Nunito"/>
              </a:rPr>
              <a:t>Feature Extraction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  <a:latin typeface="Nunito"/>
              </a:rPr>
              <a:t>system identifies features (like color, shape, or texture) </a:t>
            </a:r>
          </a:p>
          <a:p>
            <a:pPr fontAlgn="base">
              <a:buFont typeface="+mj-lt"/>
              <a:buAutoNum type="arabicPeriod"/>
            </a:pPr>
            <a:r>
              <a:rPr lang="en-US" b="1" dirty="0" smtClean="0">
                <a:solidFill>
                  <a:srgbClr val="273239"/>
                </a:solidFill>
                <a:latin typeface="Nunito"/>
              </a:rPr>
              <a:t>Model Training</a:t>
            </a:r>
            <a:endParaRPr lang="en-US" dirty="0" smtClean="0">
              <a:solidFill>
                <a:srgbClr val="273239"/>
              </a:solidFill>
              <a:latin typeface="Nunito"/>
            </a:endParaRPr>
          </a:p>
          <a:p>
            <a:pPr fontAlgn="base">
              <a:buFont typeface="+mj-lt"/>
              <a:buAutoNum type="arabicPeriod"/>
            </a:pPr>
            <a:r>
              <a:rPr lang="en-US" b="1" dirty="0" smtClean="0">
                <a:solidFill>
                  <a:srgbClr val="273239"/>
                </a:solidFill>
                <a:latin typeface="Nunito"/>
              </a:rPr>
              <a:t>Model Evaluation</a:t>
            </a:r>
            <a:r>
              <a:rPr lang="en-US" dirty="0" smtClean="0">
                <a:solidFill>
                  <a:srgbClr val="273239"/>
                </a:solidFill>
                <a:latin typeface="Nunito"/>
              </a:rPr>
              <a:t> </a:t>
            </a:r>
          </a:p>
          <a:p>
            <a:pPr fontAlgn="base">
              <a:buFont typeface="+mj-lt"/>
              <a:buAutoNum type="arabicPeriod" startAt="5"/>
            </a:pPr>
            <a:r>
              <a:rPr lang="en-US" b="1" dirty="0" smtClean="0">
                <a:solidFill>
                  <a:srgbClr val="273239"/>
                </a:solidFill>
                <a:latin typeface="Nunito"/>
              </a:rPr>
              <a:t>Prediction</a:t>
            </a:r>
          </a:p>
          <a:p>
            <a:pPr fontAlgn="base">
              <a:buFont typeface="+mj-lt"/>
              <a:buAutoNum type="arabicPeriod" startAt="5"/>
            </a:pPr>
            <a:endParaRPr lang="en-US" b="1" i="0" dirty="0">
              <a:solidFill>
                <a:srgbClr val="273239"/>
              </a:solidFill>
              <a:effectLst/>
              <a:latin typeface="Nunito"/>
            </a:endParaRPr>
          </a:p>
          <a:p>
            <a:pPr fontAlgn="base">
              <a:buFont typeface="+mj-lt"/>
              <a:buAutoNum type="arabicPeriod" startAt="5"/>
            </a:pPr>
            <a:r>
              <a:rPr lang="en-US" b="1" dirty="0" smtClean="0">
                <a:solidFill>
                  <a:srgbClr val="273239"/>
                </a:solidFill>
                <a:latin typeface="Nunito"/>
              </a:rPr>
              <a:t>Optional: tune </a:t>
            </a:r>
            <a:r>
              <a:rPr lang="en-US" b="1" dirty="0" err="1" smtClean="0">
                <a:solidFill>
                  <a:srgbClr val="273239"/>
                </a:solidFill>
                <a:latin typeface="Nunito"/>
              </a:rPr>
              <a:t>hyperparameters</a:t>
            </a:r>
            <a:endParaRPr lang="en-US" b="0" i="0" dirty="0">
              <a:solidFill>
                <a:srgbClr val="273239"/>
              </a:solidFill>
              <a:effectLst/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79930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extraction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774" y="2821955"/>
            <a:ext cx="4741165" cy="2512942"/>
          </a:xfrm>
        </p:spPr>
      </p:pic>
      <p:pic>
        <p:nvPicPr>
          <p:cNvPr id="1028" name="Picture 4" descr="BERT (Bidirectional Encoder Representations from Transformers)... |  Download Scientific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444" y="2514600"/>
            <a:ext cx="3713308" cy="325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407998" y="5773574"/>
            <a:ext cx="29151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dense vector representations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02132" y="5334897"/>
            <a:ext cx="16824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Filters (Kernels)</a:t>
            </a:r>
          </a:p>
        </p:txBody>
      </p:sp>
    </p:spTree>
    <p:extLst>
      <p:ext uri="{BB962C8B-B14F-4D97-AF65-F5344CB8AC3E}">
        <p14:creationId xmlns:p14="http://schemas.microsoft.com/office/powerpoint/2010/main" val="237175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125166978"/>
              </p:ext>
            </p:extLst>
          </p:nvPr>
        </p:nvGraphicFramePr>
        <p:xfrm>
          <a:off x="1590040" y="103208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64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47451"/>
            <a:ext cx="7729728" cy="1188720"/>
          </a:xfrm>
        </p:spPr>
        <p:txBody>
          <a:bodyPr/>
          <a:lstStyle/>
          <a:p>
            <a:r>
              <a:rPr lang="en-US" dirty="0" smtClean="0"/>
              <a:t>ALGORITHMs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79780" y="2343959"/>
            <a:ext cx="7632441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/>
              <a:t>Naive </a:t>
            </a:r>
            <a:r>
              <a:rPr lang="en-US" dirty="0" smtClean="0"/>
              <a:t>Bayes</a:t>
            </a:r>
          </a:p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/>
              <a:t>Logistic </a:t>
            </a:r>
            <a:r>
              <a:rPr lang="en-US" dirty="0" smtClean="0"/>
              <a:t>Regression</a:t>
            </a:r>
          </a:p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/>
              <a:t>Random </a:t>
            </a:r>
            <a:r>
              <a:rPr lang="en-US" dirty="0" smtClean="0"/>
              <a:t>Forest</a:t>
            </a:r>
          </a:p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 smtClean="0"/>
              <a:t>k-NN</a:t>
            </a:r>
          </a:p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 err="1" smtClean="0"/>
              <a:t>Gzip+k-NN</a:t>
            </a:r>
            <a:endParaRPr lang="en-US" dirty="0" smtClean="0"/>
          </a:p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 smtClean="0"/>
              <a:t>SVM(linear,…)</a:t>
            </a:r>
          </a:p>
          <a:p>
            <a:pPr marL="285750" indent="-285750" fontAlgn="base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 err="1"/>
              <a:t>XGBoost</a:t>
            </a:r>
            <a:endParaRPr lang="en-US" b="1" dirty="0" smtClean="0"/>
          </a:p>
          <a:p>
            <a:pPr marL="285750" indent="-285750" fontAlgn="base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273239"/>
              </a:solidFill>
              <a:effectLst/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14792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813551"/>
            <a:ext cx="7729728" cy="1188720"/>
          </a:xfrm>
        </p:spPr>
        <p:txBody>
          <a:bodyPr/>
          <a:lstStyle/>
          <a:p>
            <a:r>
              <a:rPr lang="en-US" dirty="0" smtClean="0"/>
              <a:t>Text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557021"/>
            <a:ext cx="7729728" cy="3101983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 smtClean="0"/>
              <a:t>Simple classification (TF-IDF) </a:t>
            </a:r>
            <a:r>
              <a:rPr lang="en-US" dirty="0"/>
              <a:t>Statistical / frequency-based </a:t>
            </a:r>
            <a:r>
              <a:rPr lang="en-US" dirty="0" smtClean="0"/>
              <a:t>methods</a:t>
            </a:r>
          </a:p>
          <a:p>
            <a:pPr lvl="1" algn="ctr"/>
            <a:r>
              <a:rPr lang="en-US" dirty="0" smtClean="0"/>
              <a:t>Transform the text into numbers (frequency)</a:t>
            </a:r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Vs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BERT and </a:t>
            </a:r>
            <a:r>
              <a:rPr lang="en-US" dirty="0"/>
              <a:t>word </a:t>
            </a:r>
            <a:r>
              <a:rPr lang="en-US" dirty="0" err="1" smtClean="0"/>
              <a:t>embeddings</a:t>
            </a:r>
            <a:r>
              <a:rPr lang="en-US" dirty="0" smtClean="0"/>
              <a:t> (Contextual </a:t>
            </a:r>
            <a:r>
              <a:rPr lang="en-US" dirty="0"/>
              <a:t>/ semantic </a:t>
            </a:r>
            <a:r>
              <a:rPr lang="en-US" dirty="0" smtClean="0"/>
              <a:t>methods )</a:t>
            </a:r>
          </a:p>
          <a:p>
            <a:pPr lvl="1" algn="ctr"/>
            <a:r>
              <a:rPr lang="en-US" dirty="0" smtClean="0"/>
              <a:t>Hugging face </a:t>
            </a:r>
            <a:r>
              <a:rPr lang="en-US" dirty="0" err="1" smtClean="0"/>
              <a:t>embeddings</a:t>
            </a:r>
            <a:r>
              <a:rPr lang="en-US" dirty="0" smtClean="0"/>
              <a:t>, word in text =&gt; vector depending on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3853" y="5567423"/>
            <a:ext cx="3148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Maybe next meeting? NLP, RAG, BERT, anonymization…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54147" y="2349661"/>
            <a:ext cx="7083707" cy="10532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99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vectorization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TF-IDF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17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65074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Parsing</a:t>
            </a:r>
            <a:r>
              <a:rPr lang="el-GR" b="1" dirty="0" smtClean="0"/>
              <a:t> </a:t>
            </a:r>
            <a:r>
              <a:rPr lang="el-GR" b="1" dirty="0"/>
              <a:t>- </a:t>
            </a:r>
            <a:r>
              <a:rPr lang="en-US" b="1" dirty="0"/>
              <a:t>Label Encoder</a:t>
            </a:r>
            <a:r>
              <a:rPr lang="el-GR" b="1" dirty="0"/>
              <a:t>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218944"/>
            <a:ext cx="7729728" cy="3101983"/>
          </a:xfrm>
        </p:spPr>
        <p:txBody>
          <a:bodyPr/>
          <a:lstStyle/>
          <a:p>
            <a:r>
              <a:rPr lang="el-GR" b="1" dirty="0" smtClean="0"/>
              <a:t>επεξεργασία </a:t>
            </a:r>
            <a:r>
              <a:rPr lang="el-GR" b="1" dirty="0"/>
              <a:t>των δεδομένων εκπαίδευσης: κείμενο και κλάσεις</a:t>
            </a:r>
            <a:r>
              <a:rPr lang="el-GR" b="1" dirty="0" smtClean="0"/>
              <a:t>.</a:t>
            </a:r>
            <a:endParaRPr lang="en-US" b="1" dirty="0" smtClean="0"/>
          </a:p>
          <a:p>
            <a:r>
              <a:rPr lang="el-GR" dirty="0" smtClean="0"/>
              <a:t> </a:t>
            </a:r>
            <a:r>
              <a:rPr lang="el-GR" dirty="0"/>
              <a:t>Οι κλάσεις μετατρέπονται σε ακεραίους και δημιουργείται ο </a:t>
            </a:r>
            <a:r>
              <a:rPr lang="en-US" b="1" dirty="0"/>
              <a:t>label encoder</a:t>
            </a:r>
            <a:r>
              <a:rPr lang="el-GR" dirty="0"/>
              <a:t> που αντιστοιχίζει τους ακέραιους σε ονόματα κλάσεων και αντίστροφά. </a:t>
            </a:r>
            <a:endParaRPr lang="en-US" dirty="0" smtClean="0"/>
          </a:p>
          <a:p>
            <a:r>
              <a:rPr lang="el-GR" dirty="0" smtClean="0"/>
              <a:t>Ύστερα </a:t>
            </a:r>
            <a:r>
              <a:rPr lang="el-GR" dirty="0"/>
              <a:t>τα δεδομένα χωρίζονται σε δεδομένα εκπαίδευσης (80%) και δεδομένα </a:t>
            </a:r>
            <a:r>
              <a:rPr lang="en-US" dirty="0"/>
              <a:t>testing</a:t>
            </a:r>
            <a:r>
              <a:rPr lang="el-GR" dirty="0"/>
              <a:t> (20%)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074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Vectorization</a:t>
            </a:r>
            <a:r>
              <a:rPr lang="el-GR" dirty="0" smtClean="0"/>
              <a:t> </a:t>
            </a:r>
            <a:r>
              <a:rPr lang="en-US" dirty="0" smtClean="0"/>
              <a:t>TF-IDF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 smtClean="0"/>
              <a:t>Input </a:t>
            </a:r>
            <a:r>
              <a:rPr lang="en-US" i="1" dirty="0"/>
              <a:t>data:</a:t>
            </a:r>
            <a:r>
              <a:rPr lang="en-US" dirty="0"/>
              <a:t> </a:t>
            </a:r>
            <a:r>
              <a:rPr lang="el-GR" dirty="0"/>
              <a:t>Λίστα από έγγραφα του</a:t>
            </a:r>
            <a:r>
              <a:rPr lang="en-US" dirty="0"/>
              <a:t> training dataset, </a:t>
            </a:r>
            <a:r>
              <a:rPr lang="el-GR" dirty="0"/>
              <a:t>σε μορφή</a:t>
            </a:r>
            <a:r>
              <a:rPr lang="en-US" dirty="0"/>
              <a:t> strings</a:t>
            </a:r>
          </a:p>
          <a:p>
            <a:r>
              <a:rPr lang="el-GR" dirty="0"/>
              <a:t>Δημιουργείται ένα </a:t>
            </a:r>
            <a:r>
              <a:rPr lang="en-US" dirty="0" err="1"/>
              <a:t>TfidfVectorizer</a:t>
            </a:r>
            <a:r>
              <a:rPr lang="en-US" b="1" dirty="0"/>
              <a:t> (</a:t>
            </a:r>
            <a:r>
              <a:rPr lang="en-US" b="1" dirty="0" err="1"/>
              <a:t>vectorizer</a:t>
            </a:r>
            <a:r>
              <a:rPr lang="en-US" b="1" dirty="0"/>
              <a:t> object)</a:t>
            </a:r>
            <a:r>
              <a:rPr lang="en-US" dirty="0"/>
              <a:t> </a:t>
            </a:r>
            <a:r>
              <a:rPr lang="el-GR" dirty="0"/>
              <a:t>το οποίο αναλύει το κείμενο σε λέξεις </a:t>
            </a:r>
            <a:r>
              <a:rPr lang="en-US" dirty="0"/>
              <a:t>(analyzer="word") </a:t>
            </a:r>
            <a:r>
              <a:rPr lang="el-GR" dirty="0"/>
              <a:t>και </a:t>
            </a:r>
            <a:r>
              <a:rPr lang="el-GR" dirty="0" smtClean="0"/>
              <a:t>εξάγει</a:t>
            </a:r>
          </a:p>
          <a:p>
            <a:pPr lvl="1"/>
            <a:r>
              <a:rPr lang="el-GR" dirty="0" smtClean="0"/>
              <a:t> </a:t>
            </a:r>
            <a:r>
              <a:rPr lang="en-US" b="1" dirty="0"/>
              <a:t>unigrams</a:t>
            </a:r>
            <a:r>
              <a:rPr lang="en-US" dirty="0"/>
              <a:t> (1 </a:t>
            </a:r>
            <a:r>
              <a:rPr lang="el-GR" dirty="0"/>
              <a:t>λέξη</a:t>
            </a:r>
            <a:r>
              <a:rPr lang="en-US" dirty="0"/>
              <a:t>) </a:t>
            </a:r>
            <a:endParaRPr lang="el-GR" dirty="0" smtClean="0"/>
          </a:p>
          <a:p>
            <a:pPr lvl="1"/>
            <a:r>
              <a:rPr lang="el-GR" dirty="0" smtClean="0"/>
              <a:t>και </a:t>
            </a:r>
            <a:r>
              <a:rPr lang="en-US" b="1" dirty="0"/>
              <a:t>bigrams</a:t>
            </a:r>
            <a:r>
              <a:rPr lang="en-US" dirty="0"/>
              <a:t> (2 </a:t>
            </a:r>
            <a:r>
              <a:rPr lang="el-GR" dirty="0"/>
              <a:t>συνεχόμενες λέξεις</a:t>
            </a:r>
            <a:r>
              <a:rPr lang="en-US" dirty="0"/>
              <a:t>/</a:t>
            </a:r>
            <a:r>
              <a:rPr lang="el-GR" dirty="0"/>
              <a:t>δίγραμμα</a:t>
            </a:r>
            <a:r>
              <a:rPr lang="en-US" dirty="0"/>
              <a:t>) (</a:t>
            </a:r>
            <a:r>
              <a:rPr lang="en-US" dirty="0" err="1"/>
              <a:t>ngram_range</a:t>
            </a:r>
            <a:r>
              <a:rPr lang="en-US" dirty="0"/>
              <a:t>=(1, 2)). </a:t>
            </a:r>
            <a:endParaRPr lang="el-GR" dirty="0"/>
          </a:p>
          <a:p>
            <a:r>
              <a:rPr lang="en-US" dirty="0" smtClean="0"/>
              <a:t>Max features </a:t>
            </a:r>
            <a:r>
              <a:rPr lang="el-GR" dirty="0" smtClean="0"/>
              <a:t>επιλογή </a:t>
            </a:r>
            <a:r>
              <a:rPr lang="en-US" dirty="0" smtClean="0"/>
              <a:t>k=</a:t>
            </a:r>
            <a:r>
              <a:rPr lang="el-GR" dirty="0" smtClean="0"/>
              <a:t>10.000 </a:t>
            </a:r>
            <a:r>
              <a:rPr lang="el-GR" b="1" dirty="0"/>
              <a:t>σημαντικότερες</a:t>
            </a:r>
            <a:r>
              <a:rPr lang="el-GR" dirty="0"/>
              <a:t> λέξεις/</a:t>
            </a:r>
            <a:r>
              <a:rPr lang="el-GR" dirty="0" err="1"/>
              <a:t>διγράμματα</a:t>
            </a:r>
            <a:r>
              <a:rPr lang="el-GR" dirty="0"/>
              <a:t> (βάσει συχνότητας σε όλα τα έγγραφα και IDF</a:t>
            </a:r>
            <a:r>
              <a:rPr lang="el-GR" dirty="0" smtClean="0"/>
              <a:t>)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06592" y="5740027"/>
            <a:ext cx="669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French </a:t>
            </a:r>
            <a:r>
              <a:rPr lang="en-US" b="1" i="1" dirty="0" smtClean="0"/>
              <a:t>Revolution, French, Revolution =&gt; </a:t>
            </a:r>
            <a:r>
              <a:rPr lang="el-GR" b="1" i="1" dirty="0" smtClean="0"/>
              <a:t>Διαφορετικοί όροι!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89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152" y="845473"/>
            <a:ext cx="10537389" cy="512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72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Tf-idf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l-GR" b="1" dirty="0"/>
              <a:t>Αποτέλεσμα:</a:t>
            </a:r>
            <a:r>
              <a:rPr lang="el-GR" dirty="0"/>
              <a:t> Το TF-IDF είναι υψηλό για λέξεις που εμφανίζονται </a:t>
            </a:r>
            <a:r>
              <a:rPr lang="el-GR" b="1" dirty="0"/>
              <a:t>συχνά σε ένα συγκεκριμένο έγγραφο</a:t>
            </a:r>
            <a:r>
              <a:rPr lang="el-GR" dirty="0"/>
              <a:t> (υψηλό TF) </a:t>
            </a:r>
            <a:r>
              <a:rPr lang="el-GR" b="1" dirty="0"/>
              <a:t>και</a:t>
            </a:r>
            <a:r>
              <a:rPr lang="el-GR" dirty="0"/>
              <a:t> είναι </a:t>
            </a:r>
            <a:r>
              <a:rPr lang="el-GR" b="1" dirty="0"/>
              <a:t>σπάνιες στο </a:t>
            </a:r>
            <a:r>
              <a:rPr lang="el-GR" b="1" dirty="0" err="1"/>
              <a:t>corpus</a:t>
            </a:r>
            <a:r>
              <a:rPr lang="el-GR" dirty="0"/>
              <a:t> (υψηλό IDF). Άρα αυτές οι λέξεις έχουν μεγαλύτερη σημασία στην ταξινόμηση του εγγράφου</a:t>
            </a:r>
            <a:r>
              <a:rPr lang="el-GR" dirty="0" smtClean="0"/>
              <a:t>.</a:t>
            </a:r>
            <a:endParaRPr lang="en-US" dirty="0"/>
          </a:p>
          <a:p>
            <a:r>
              <a:rPr lang="el-GR" dirty="0"/>
              <a:t>Εν συντομία:</a:t>
            </a:r>
            <a:endParaRPr lang="en-US" dirty="0"/>
          </a:p>
          <a:p>
            <a:pPr lvl="0"/>
            <a:r>
              <a:rPr lang="el-GR" dirty="0"/>
              <a:t>Οι 10 χιλιάδες συχνότερες λέξεις ή </a:t>
            </a:r>
            <a:r>
              <a:rPr lang="el-GR" dirty="0" err="1"/>
              <a:t>διγράμματα</a:t>
            </a:r>
            <a:r>
              <a:rPr lang="el-GR" dirty="0"/>
              <a:t> αποθηκεύονται στον πίνακα. </a:t>
            </a:r>
            <a:endParaRPr lang="en-US" dirty="0"/>
          </a:p>
          <a:p>
            <a:pPr lvl="0"/>
            <a:r>
              <a:rPr lang="el-GR" dirty="0"/>
              <a:t>Κάθε στήλη αντιπροσωπεύει μία λέξη/δίγραμμα. </a:t>
            </a:r>
            <a:endParaRPr lang="en-US" dirty="0"/>
          </a:p>
          <a:p>
            <a:pPr lvl="0"/>
            <a:r>
              <a:rPr lang="el-GR" dirty="0"/>
              <a:t>Κάθε σειρά αντιστοιχεί σε ένα έγγραφο. </a:t>
            </a:r>
            <a:endParaRPr lang="en-US" dirty="0"/>
          </a:p>
          <a:p>
            <a:pPr lvl="0"/>
            <a:r>
              <a:rPr lang="el-GR" dirty="0"/>
              <a:t>Κάθε κελί περιέχει την </a:t>
            </a:r>
            <a:r>
              <a:rPr lang="en-US" dirty="0"/>
              <a:t>TF</a:t>
            </a:r>
            <a:r>
              <a:rPr lang="el-GR" dirty="0"/>
              <a:t>-</a:t>
            </a:r>
            <a:r>
              <a:rPr lang="en-US" dirty="0"/>
              <a:t>IDF </a:t>
            </a:r>
            <a:r>
              <a:rPr lang="el-GR" dirty="0"/>
              <a:t>τιμή της λέξης/</a:t>
            </a:r>
            <a:r>
              <a:rPr lang="el-GR" dirty="0" err="1"/>
              <a:t>διγράμματος</a:t>
            </a:r>
            <a:r>
              <a:rPr lang="el-GR" dirty="0"/>
              <a:t> της στήλης που προκύπτει από το έγγραφο της σειράς.</a:t>
            </a:r>
            <a:endParaRPr lang="en-US" dirty="0"/>
          </a:p>
          <a:p>
            <a:r>
              <a:rPr lang="el-GR" dirty="0"/>
              <a:t>Οι 10_000 στήλες είναι τα </a:t>
            </a:r>
            <a:r>
              <a:rPr lang="en-US" b="1" dirty="0"/>
              <a:t>features</a:t>
            </a:r>
            <a:r>
              <a:rPr lang="el-GR" dirty="0"/>
              <a:t> που χρησιμοποιούνται στην εφαρμογή ταξινόμησης κειμένου.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77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TF-IDF vs BERT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TF-IDF =&gt; SIMPLE CASES IS ENOUGH</a:t>
            </a:r>
          </a:p>
          <a:p>
            <a:endParaRPr lang="en-US" dirty="0"/>
          </a:p>
          <a:p>
            <a:r>
              <a:rPr lang="en-US" dirty="0" smtClean="0"/>
              <a:t>COMPLEX TEXTS =&gt; REQUIRE BERT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198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Algorithms for news classification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444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Suggested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Naïve </a:t>
            </a:r>
            <a:r>
              <a:rPr lang="en-US" dirty="0" err="1" smtClean="0"/>
              <a:t>bayes</a:t>
            </a:r>
            <a:r>
              <a:rPr lang="en-US" dirty="0" smtClean="0"/>
              <a:t> theory</a:t>
            </a:r>
          </a:p>
          <a:p>
            <a:r>
              <a:rPr lang="en-US" dirty="0" smtClean="0"/>
              <a:t>Results</a:t>
            </a:r>
          </a:p>
          <a:p>
            <a:r>
              <a:rPr lang="en-US" dirty="0" err="1" smtClean="0"/>
              <a:t>Xgboost</a:t>
            </a:r>
            <a:r>
              <a:rPr lang="en-US" dirty="0" smtClean="0"/>
              <a:t> theory</a:t>
            </a:r>
          </a:p>
          <a:p>
            <a:r>
              <a:rPr lang="en-US" dirty="0" smtClean="0"/>
              <a:t>Results</a:t>
            </a:r>
          </a:p>
          <a:p>
            <a:endParaRPr lang="en-US" dirty="0"/>
          </a:p>
          <a:p>
            <a:r>
              <a:rPr lang="en-US" dirty="0" smtClean="0"/>
              <a:t>Accuracy measures :  “f1–score” </a:t>
            </a:r>
          </a:p>
          <a:p>
            <a:r>
              <a:rPr lang="en-US" dirty="0" smtClean="0"/>
              <a:t>Confusion matrix: “quality of learning”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825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Naive Bayes Classifiers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https://www.geeksforgeeks.org/machine-learning/naive-bayes-classifiers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/>
              <a:t>✨ python</a:t>
            </a:r>
          </a:p>
          <a:p>
            <a:r>
              <a:rPr lang="en-US" dirty="0" err="1">
                <a:hlinkClick r:id="rId3"/>
              </a:rPr>
              <a:t>X_train_vec</a:t>
            </a:r>
            <a:r>
              <a:rPr lang="en-US" dirty="0"/>
              <a:t> and </a:t>
            </a:r>
            <a:r>
              <a:rPr lang="en-US" dirty="0" err="1">
                <a:hlinkClick r:id="rId3"/>
              </a:rPr>
              <a:t>X_test_vec</a:t>
            </a:r>
            <a:r>
              <a:rPr lang="en-US" dirty="0"/>
              <a:t> </a:t>
            </a:r>
            <a:r>
              <a:rPr lang="en-US" dirty="0" smtClean="0"/>
              <a:t>= </a:t>
            </a:r>
            <a:r>
              <a:rPr lang="en-US" dirty="0"/>
              <a:t>TF-IDF </a:t>
            </a:r>
            <a:endParaRPr lang="en-US" dirty="0" smtClean="0"/>
          </a:p>
          <a:p>
            <a:r>
              <a:rPr lang="en-US" dirty="0" err="1" smtClean="0">
                <a:hlinkClick r:id="rId3"/>
              </a:rPr>
              <a:t>y_train</a:t>
            </a:r>
            <a:r>
              <a:rPr lang="en-US" dirty="0"/>
              <a:t> </a:t>
            </a:r>
            <a:r>
              <a:rPr lang="en-US" dirty="0" smtClean="0"/>
              <a:t>= training </a:t>
            </a:r>
            <a:r>
              <a:rPr lang="en-US" dirty="0"/>
              <a:t>labels.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866" y="4292025"/>
            <a:ext cx="5763429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66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Naive Bayes Classifiers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7" y="2638045"/>
            <a:ext cx="7729728" cy="284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55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Naive </a:t>
            </a:r>
            <a:r>
              <a:rPr lang="en-US" b="1" dirty="0" smtClean="0"/>
              <a:t>Assumption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assumption </a:t>
            </a:r>
            <a:r>
              <a:rPr lang="en-US" dirty="0"/>
              <a:t>that all features are </a:t>
            </a:r>
            <a:r>
              <a:rPr lang="en-US" dirty="0" smtClean="0"/>
              <a:t>independent </a:t>
            </a:r>
            <a:r>
              <a:rPr lang="en-US" dirty="0"/>
              <a:t>given the </a:t>
            </a:r>
            <a:r>
              <a:rPr lang="en-US" dirty="0" smtClean="0"/>
              <a:t>class</a:t>
            </a:r>
          </a:p>
          <a:p>
            <a:r>
              <a:rPr lang="en-US" dirty="0" smtClean="0"/>
              <a:t>(</a:t>
            </a:r>
            <a:r>
              <a:rPr lang="el-GR" dirty="0" smtClean="0"/>
              <a:t>θεώρημα ανεξαρτησίας)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l-GR" dirty="0" smtClean="0"/>
          </a:p>
          <a:p>
            <a:r>
              <a:rPr lang="el-GR" dirty="0" smtClean="0"/>
              <a:t>Πώς επιλέγουμε; ΚΑΝΟΝΑΣ ΑΠΟΦΑΣΗΣ ΚΑΤΆ </a:t>
            </a:r>
            <a:r>
              <a:rPr lang="en-US" dirty="0" smtClean="0"/>
              <a:t>BAYES</a:t>
            </a:r>
          </a:p>
          <a:p>
            <a:pPr lvl="1"/>
            <a:r>
              <a:rPr lang="el-GR" sz="1400" dirty="0" smtClean="0"/>
              <a:t>επιλέγεται </a:t>
            </a:r>
            <a:r>
              <a:rPr lang="el-GR" sz="1400" dirty="0"/>
              <a:t>η κλάση που μεγιστοποιεί την εκ των υστέρων </a:t>
            </a:r>
            <a:r>
              <a:rPr lang="el-GR" sz="1400" dirty="0" smtClean="0"/>
              <a:t>πιθανότητα</a:t>
            </a:r>
            <a:endParaRPr lang="en-US" sz="1400" dirty="0" smtClean="0"/>
          </a:p>
          <a:p>
            <a:pPr marL="0" indent="0">
              <a:buNone/>
            </a:pPr>
            <a:endParaRPr lang="el-GR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3550771"/>
            <a:ext cx="6058746" cy="6382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57952" y="5429521"/>
            <a:ext cx="235300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72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31" y="585041"/>
            <a:ext cx="7729728" cy="1188720"/>
          </a:xfrm>
        </p:spPr>
        <p:txBody>
          <a:bodyPr/>
          <a:lstStyle/>
          <a:p>
            <a:r>
              <a:rPr lang="en-US" dirty="0"/>
              <a:t>Decision rule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22079" b="12328"/>
          <a:stretch/>
        </p:blipFill>
        <p:spPr>
          <a:xfrm>
            <a:off x="4792299" y="2020824"/>
            <a:ext cx="2924392" cy="676656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231135" y="2944543"/>
            <a:ext cx="8046720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C_k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 Η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Εκ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των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Προτέρων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Πιθ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ανότητα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(Prior) της κλάσης C_k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P(x |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C_k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 Η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Πιθ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ανοφάνεια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(Likelihood), η πιθανότητα να παρατηρηθεί το x αν ανήκει στην κλάση C_k.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P(x): Η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Πιθ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ανότητα Μάρτυρας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(Evidence), η πιθανότητα να παρατηρηθεί το x.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Αυτό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συνήθως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παρα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λεί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πεται στον κανόνα απόφασης, καθώς είναι το ίδιο για όλες τις κλάσεις).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77994" y="5453764"/>
            <a:ext cx="235300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00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 smtClean="0"/>
              <a:t>Δυο κλάσεις (</a:t>
            </a:r>
            <a:r>
              <a:rPr lang="en-US" dirty="0" smtClean="0"/>
              <a:t>K=2</a:t>
            </a:r>
            <a:r>
              <a:rPr lang="el-GR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l-GR" dirty="0" smtClean="0"/>
          </a:p>
          <a:p>
            <a:endParaRPr lang="el-GR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l-GR" dirty="0"/>
              <a:t>Δεν αρκεί ο λόγος. Πρέπει να </a:t>
            </a:r>
            <a:r>
              <a:rPr lang="el-GR" b="1" dirty="0"/>
              <a:t>υπολογίσουμε την πιθανότητα για κάθε κλάση</a:t>
            </a:r>
            <a:r>
              <a:rPr lang="el-GR" dirty="0"/>
              <a:t> </a:t>
            </a:r>
            <a:r>
              <a:rPr lang="el-GR" dirty="0" smtClean="0"/>
              <a:t>ξεχωριστά</a:t>
            </a:r>
            <a:r>
              <a:rPr lang="en-US" dirty="0" smtClean="0"/>
              <a:t> </a:t>
            </a:r>
            <a:r>
              <a:rPr lang="el-GR" dirty="0"/>
              <a:t>και στη συνέχεια να συγκρίνουμε </a:t>
            </a:r>
            <a:r>
              <a:rPr lang="el-GR" dirty="0" smtClean="0"/>
              <a:t>τις τιμές </a:t>
            </a:r>
            <a:r>
              <a:rPr lang="el-GR" dirty="0"/>
              <a:t>για να βρούμε τη μέγιστη</a:t>
            </a:r>
            <a:r>
              <a:rPr lang="el-GR" dirty="0" smtClean="0"/>
              <a:t>.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l-GR" dirty="0"/>
              <a:t>Πολλές Κλάσεις </a:t>
            </a:r>
            <a:r>
              <a:rPr lang="el-GR" dirty="0" smtClean="0"/>
              <a:t>(</a:t>
            </a:r>
            <a:r>
              <a:rPr lang="en-US" dirty="0" smtClean="0"/>
              <a:t>K&gt;2</a:t>
            </a:r>
            <a:r>
              <a:rPr lang="el-GR" dirty="0" smtClean="0"/>
              <a:t>)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rule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86189" y="3241588"/>
            <a:ext cx="2029108" cy="41915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20555"/>
          <a:stretch/>
        </p:blipFill>
        <p:spPr>
          <a:xfrm>
            <a:off x="2429004" y="4025389"/>
            <a:ext cx="2343477" cy="8324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clrChange>
              <a:clrFrom>
                <a:srgbClr val="1B1C1D"/>
              </a:clrFrom>
              <a:clrTo>
                <a:srgbClr val="1B1C1D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99252" y="4640938"/>
            <a:ext cx="3143689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80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78519"/>
            <a:ext cx="7729728" cy="1188720"/>
          </a:xfrm>
        </p:spPr>
        <p:txBody>
          <a:bodyPr/>
          <a:lstStyle/>
          <a:p>
            <a:r>
              <a:rPr lang="el-GR" dirty="0" smtClean="0"/>
              <a:t>ΓΙΑΤΙ ΧΡΕΙΑΖΕΤΑΙ ΝΕΥΡΩΝΙΚΟ;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290572"/>
            <a:ext cx="7729728" cy="3101983"/>
          </a:xfrm>
        </p:spPr>
        <p:txBody>
          <a:bodyPr/>
          <a:lstStyle/>
          <a:p>
            <a:r>
              <a:rPr lang="el-GR" dirty="0"/>
              <a:t> δυσκολία υπολογισμού της </a:t>
            </a:r>
            <a:r>
              <a:rPr lang="el-GR" dirty="0" err="1"/>
              <a:t>Πιθανοφάνειας</a:t>
            </a:r>
            <a:r>
              <a:rPr lang="el-GR" dirty="0"/>
              <a:t> </a:t>
            </a:r>
            <a:r>
              <a:rPr lang="el-GR" dirty="0" smtClean="0"/>
              <a:t>P(x </a:t>
            </a:r>
            <a:r>
              <a:rPr lang="el-GR" dirty="0"/>
              <a:t>| </a:t>
            </a:r>
            <a:r>
              <a:rPr lang="el-GR" dirty="0" err="1"/>
              <a:t>C_k</a:t>
            </a:r>
            <a:r>
              <a:rPr lang="el-GR" dirty="0" smtClean="0"/>
              <a:t>) </a:t>
            </a:r>
            <a:r>
              <a:rPr lang="el-GR" dirty="0"/>
              <a:t>για σύνθετα </a:t>
            </a:r>
            <a:r>
              <a:rPr lang="el-GR" dirty="0" smtClean="0"/>
              <a:t>δεδομένα</a:t>
            </a:r>
          </a:p>
          <a:p>
            <a:r>
              <a:rPr lang="el-GR" dirty="0"/>
              <a:t>Παράδειγμα: Αναγνώριση </a:t>
            </a:r>
            <a:r>
              <a:rPr lang="el-GR" dirty="0" smtClean="0"/>
              <a:t>Εικόνας </a:t>
            </a:r>
          </a:p>
          <a:p>
            <a:pPr lvl="1"/>
            <a:r>
              <a:rPr lang="en-US" dirty="0" smtClean="0"/>
              <a:t>C1: </a:t>
            </a:r>
            <a:r>
              <a:rPr lang="el-GR" dirty="0" err="1" smtClean="0"/>
              <a:t>Γατα</a:t>
            </a:r>
            <a:endParaRPr lang="el-GR" dirty="0" smtClean="0"/>
          </a:p>
          <a:p>
            <a:pPr lvl="1"/>
            <a:r>
              <a:rPr lang="en-US" dirty="0" smtClean="0"/>
              <a:t>C2: </a:t>
            </a:r>
            <a:r>
              <a:rPr lang="el-GR" dirty="0" smtClean="0"/>
              <a:t>όχι </a:t>
            </a:r>
            <a:r>
              <a:rPr lang="el-GR" dirty="0" err="1" smtClean="0"/>
              <a:t>γατα</a:t>
            </a:r>
            <a:r>
              <a:rPr lang="el-GR" dirty="0" smtClean="0"/>
              <a:t> (</a:t>
            </a:r>
            <a:r>
              <a:rPr lang="el-GR" dirty="0" err="1" smtClean="0"/>
              <a:t>σκυλος</a:t>
            </a:r>
            <a:r>
              <a:rPr lang="el-GR" dirty="0" smtClean="0"/>
              <a:t>)</a:t>
            </a:r>
          </a:p>
          <a:p>
            <a:r>
              <a:rPr lang="el-GR" dirty="0" smtClean="0"/>
              <a:t>Είσοδος εικόνα</a:t>
            </a:r>
            <a:r>
              <a:rPr lang="el-GR" dirty="0"/>
              <a:t>, </a:t>
            </a:r>
            <a:r>
              <a:rPr lang="el-GR" dirty="0" smtClean="0"/>
              <a:t>μεγέθους 10*10</a:t>
            </a:r>
          </a:p>
          <a:p>
            <a:r>
              <a:rPr lang="el-GR" dirty="0" err="1" smtClean="0"/>
              <a:t>Πιθανοφάνεια</a:t>
            </a:r>
            <a:r>
              <a:rPr lang="el-GR" dirty="0" smtClean="0"/>
              <a:t>:</a:t>
            </a:r>
            <a:endParaRPr lang="el-G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10732" y="4220497"/>
            <a:ext cx="3696216" cy="4286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55664" y="4763225"/>
            <a:ext cx="459943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dirty="0">
                <a:solidFill>
                  <a:srgbClr val="0070C0"/>
                </a:solidFill>
                <a:latin typeface="Google Sans Flex"/>
              </a:rPr>
              <a:t>Κάθε </a:t>
            </a:r>
            <a:r>
              <a:rPr lang="el-GR" sz="1600" dirty="0" err="1">
                <a:solidFill>
                  <a:srgbClr val="0070C0"/>
                </a:solidFill>
                <a:latin typeface="Google Sans Flex"/>
              </a:rPr>
              <a:t>pixel</a:t>
            </a:r>
            <a:r>
              <a:rPr lang="el-GR" sz="1600" dirty="0">
                <a:solidFill>
                  <a:srgbClr val="0070C0"/>
                </a:solidFill>
                <a:latin typeface="Google Sans Flex"/>
              </a:rPr>
              <a:t> μπορεί να λάβει 256 τιμές.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dirty="0">
                <a:solidFill>
                  <a:srgbClr val="0070C0"/>
                </a:solidFill>
                <a:latin typeface="Google Sans Flex"/>
              </a:rPr>
              <a:t>Ο συνολικός αριθμός πιθανών εικόνων σε κλίμακα του γκρι είναι </a:t>
            </a:r>
            <a:r>
              <a:rPr lang="el-GR" sz="1600" dirty="0" smtClean="0">
                <a:solidFill>
                  <a:srgbClr val="0070C0"/>
                </a:solidFill>
                <a:latin typeface="Google Sans Flex"/>
              </a:rPr>
              <a:t>256^100.</a:t>
            </a:r>
            <a:endParaRPr lang="el-GR" sz="1600" dirty="0">
              <a:solidFill>
                <a:srgbClr val="0070C0"/>
              </a:solidFill>
              <a:latin typeface="Google Sans Flex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dirty="0">
                <a:solidFill>
                  <a:srgbClr val="0070C0"/>
                </a:solidFill>
                <a:latin typeface="Google Sans Flex"/>
              </a:rPr>
              <a:t>Για να υπολογίσουμε σωστά την P(x | </a:t>
            </a:r>
            <a:r>
              <a:rPr lang="el-GR" sz="1600" dirty="0" err="1">
                <a:solidFill>
                  <a:srgbClr val="0070C0"/>
                </a:solidFill>
                <a:latin typeface="Google Sans Flex"/>
              </a:rPr>
              <a:t>Cat</a:t>
            </a:r>
            <a:r>
              <a:rPr lang="el-GR" sz="1600" dirty="0">
                <a:solidFill>
                  <a:srgbClr val="0070C0"/>
                </a:solidFill>
                <a:latin typeface="Google Sans Flex"/>
              </a:rPr>
              <a:t>), θα έπρεπε να δούμε πώς κατανέμεται η πιθανότητα σε αυτόν τον τεράστιο χώρο για όλες τις εικόνες "Γάτας" στον κόσμο.</a:t>
            </a:r>
            <a:endParaRPr lang="el-GR" sz="1600" b="0" i="0" dirty="0">
              <a:solidFill>
                <a:srgbClr val="0070C0"/>
              </a:solidFill>
              <a:effectLst/>
              <a:latin typeface="Google Sans Flex"/>
            </a:endParaRPr>
          </a:p>
        </p:txBody>
      </p:sp>
      <p:cxnSp>
        <p:nvCxnSpPr>
          <p:cNvPr id="7" name="Elbow Connector 6"/>
          <p:cNvCxnSpPr/>
          <p:nvPr/>
        </p:nvCxnSpPr>
        <p:spPr>
          <a:xfrm>
            <a:off x="5361432" y="4848206"/>
            <a:ext cx="950976" cy="665626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6572" y="5095350"/>
            <a:ext cx="142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 smtClean="0"/>
              <a:t>Γιατί είναι αδύνατο;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230513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4582" y="514686"/>
            <a:ext cx="7729728" cy="1188720"/>
          </a:xfrm>
        </p:spPr>
        <p:txBody>
          <a:bodyPr/>
          <a:lstStyle/>
          <a:p>
            <a:r>
              <a:rPr lang="en-US" dirty="0" smtClean="0"/>
              <a:t>NEURAL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969" y="1969829"/>
            <a:ext cx="10796954" cy="3101983"/>
          </a:xfrm>
        </p:spPr>
        <p:txBody>
          <a:bodyPr/>
          <a:lstStyle/>
          <a:p>
            <a:r>
              <a:rPr lang="el-GR" dirty="0"/>
              <a:t>Το νευρωνικό δίκτυο είναι μια παραμετρική συνάρτηση </a:t>
            </a:r>
            <a:r>
              <a:rPr lang="el-GR" b="1" dirty="0"/>
              <a:t>u(</a:t>
            </a:r>
            <a:r>
              <a:rPr lang="el-GR" b="1" dirty="0" err="1"/>
              <a:t>x,θ</a:t>
            </a:r>
            <a:r>
              <a:rPr lang="el-GR" b="1" dirty="0"/>
              <a:t>)</a:t>
            </a:r>
            <a:r>
              <a:rPr lang="el-GR" dirty="0"/>
              <a:t> που με βελτιστοποίηση προσπαθεί να προσεγγίσει τον </a:t>
            </a:r>
            <a:r>
              <a:rPr lang="el-GR" dirty="0" err="1"/>
              <a:t>Bayes</a:t>
            </a:r>
            <a:r>
              <a:rPr lang="el-GR" dirty="0" smtClean="0"/>
              <a:t>.</a:t>
            </a:r>
            <a:r>
              <a:rPr lang="el-GR" b="1" dirty="0" smtClean="0"/>
              <a:t> </a:t>
            </a:r>
            <a:r>
              <a:rPr lang="en-US" dirty="0" smtClean="0"/>
              <a:t>(</a:t>
            </a:r>
            <a:r>
              <a:rPr lang="en-US" dirty="0"/>
              <a:t>Bayes Optimal Classifier</a:t>
            </a:r>
            <a:r>
              <a:rPr lang="en-US" dirty="0" smtClean="0"/>
              <a:t>)</a:t>
            </a:r>
            <a:endParaRPr lang="el-GR" dirty="0" smtClean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612722544"/>
              </p:ext>
            </p:extLst>
          </p:nvPr>
        </p:nvGraphicFramePr>
        <p:xfrm>
          <a:off x="2795953" y="2822330"/>
          <a:ext cx="6506309" cy="3235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5294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 news 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20 newsgroups dataset comprises around </a:t>
            </a:r>
            <a:endParaRPr lang="en-US" dirty="0" smtClean="0"/>
          </a:p>
          <a:p>
            <a:pPr lvl="1"/>
            <a:r>
              <a:rPr lang="en-US" dirty="0" smtClean="0"/>
              <a:t>18000 </a:t>
            </a:r>
            <a:r>
              <a:rPr lang="en-US" dirty="0"/>
              <a:t>newsgroups </a:t>
            </a:r>
            <a:r>
              <a:rPr lang="en-US" dirty="0" smtClean="0"/>
              <a:t>posts</a:t>
            </a:r>
          </a:p>
          <a:p>
            <a:pPr lvl="1"/>
            <a:r>
              <a:rPr lang="en-US" dirty="0" smtClean="0"/>
              <a:t>on </a:t>
            </a:r>
            <a:r>
              <a:rPr lang="en-US" dirty="0"/>
              <a:t>20 </a:t>
            </a:r>
            <a:r>
              <a:rPr lang="en-US" dirty="0" smtClean="0"/>
              <a:t>topics</a:t>
            </a:r>
          </a:p>
          <a:p>
            <a:r>
              <a:rPr lang="en-US" dirty="0" smtClean="0"/>
              <a:t> </a:t>
            </a:r>
            <a:r>
              <a:rPr lang="en-US" dirty="0"/>
              <a:t>split in two subsets: </a:t>
            </a:r>
            <a:endParaRPr lang="en-US" dirty="0" smtClean="0"/>
          </a:p>
          <a:p>
            <a:pPr lvl="1"/>
            <a:r>
              <a:rPr lang="en-US" dirty="0" smtClean="0"/>
              <a:t>one </a:t>
            </a:r>
            <a:r>
              <a:rPr lang="en-US" dirty="0"/>
              <a:t>for training (or development) </a:t>
            </a:r>
            <a:endParaRPr lang="en-US" dirty="0" smtClean="0"/>
          </a:p>
          <a:p>
            <a:pPr lvl="1"/>
            <a:r>
              <a:rPr lang="en-US" dirty="0" smtClean="0"/>
              <a:t>one </a:t>
            </a:r>
            <a:r>
              <a:rPr lang="en-US" dirty="0"/>
              <a:t>for testing (or for performance evaluation). </a:t>
            </a:r>
            <a:endParaRPr lang="en-US" dirty="0" smtClean="0"/>
          </a:p>
          <a:p>
            <a:pPr lvl="1"/>
            <a:r>
              <a:rPr lang="en-US" dirty="0"/>
              <a:t>(</a:t>
            </a:r>
            <a:r>
              <a:rPr lang="en-US" dirty="0" smtClean="0"/>
              <a:t>The </a:t>
            </a:r>
            <a:r>
              <a:rPr lang="en-US" dirty="0"/>
              <a:t>split between the train and test set is based upon a messages posted before and after a specific date</a:t>
            </a:r>
            <a:r>
              <a:rPr lang="en-US" dirty="0" smtClean="0"/>
              <a:t>.)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508945" y="5555361"/>
            <a:ext cx="6136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FFCC"/>
                </a:solidFill>
                <a:latin typeface="Consolas" panose="020B0609020204030204" pitchFamily="49" charset="0"/>
              </a:rPr>
              <a:t>sklearn.datasets</a:t>
            </a:r>
            <a:r>
              <a:rPr lang="en-US" dirty="0">
                <a:solidFill>
                  <a:srgbClr val="00FF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FFCC"/>
                </a:solidFill>
                <a:latin typeface="Consolas" panose="020B0609020204030204" pitchFamily="49" charset="0"/>
              </a:rPr>
              <a:t>fetch_20newsgroups</a:t>
            </a:r>
            <a:endParaRPr lang="en-US" b="0" dirty="0">
              <a:solidFill>
                <a:srgbClr val="00FF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926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NAÏVE BAYES ON 20NEWSGROUP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AI_SG\1\bayes_train_20newsgroups.py: </a:t>
            </a:r>
            <a:endParaRPr lang="en-US" dirty="0"/>
          </a:p>
          <a:p>
            <a:r>
              <a:rPr lang="en-US" dirty="0" smtClean="0"/>
              <a:t> 	       accuracy                                </a:t>
            </a:r>
            <a:r>
              <a:rPr lang="en-US" b="1" dirty="0" smtClean="0">
                <a:solidFill>
                  <a:srgbClr val="FFC000"/>
                </a:solidFill>
              </a:rPr>
              <a:t>0.67</a:t>
            </a:r>
            <a:r>
              <a:rPr lang="en-US" dirty="0" smtClean="0"/>
              <a:t>      </a:t>
            </a:r>
            <a:r>
              <a:rPr lang="en-US" dirty="0"/>
              <a:t>7532</a:t>
            </a:r>
          </a:p>
          <a:p>
            <a:r>
              <a:rPr lang="en-US" dirty="0"/>
              <a:t>               macro </a:t>
            </a:r>
            <a:r>
              <a:rPr lang="en-US" dirty="0" err="1"/>
              <a:t>avg</a:t>
            </a:r>
            <a:r>
              <a:rPr lang="en-US" dirty="0"/>
              <a:t>       </a:t>
            </a:r>
            <a:r>
              <a:rPr lang="en-US" dirty="0" smtClean="0"/>
              <a:t> 0.70      </a:t>
            </a:r>
            <a:r>
              <a:rPr lang="en-US" dirty="0"/>
              <a:t>0.66      0.65      7532</a:t>
            </a:r>
          </a:p>
          <a:p>
            <a:r>
              <a:rPr lang="en-US" dirty="0"/>
              <a:t>            weighted </a:t>
            </a:r>
            <a:r>
              <a:rPr lang="en-US" dirty="0" err="1"/>
              <a:t>avg</a:t>
            </a:r>
            <a:r>
              <a:rPr lang="en-US" dirty="0"/>
              <a:t>       0.70      0.67      0.66      7532</a:t>
            </a:r>
          </a:p>
        </p:txBody>
      </p:sp>
    </p:spTree>
    <p:extLst>
      <p:ext uri="{BB962C8B-B14F-4D97-AF65-F5344CB8AC3E}">
        <p14:creationId xmlns:p14="http://schemas.microsoft.com/office/powerpoint/2010/main" val="2123577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F1-score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2344" y="2462198"/>
            <a:ext cx="8907311" cy="3472610"/>
          </a:xfrm>
        </p:spPr>
        <p:txBody>
          <a:bodyPr>
            <a:normAutofit fontScale="85000" lnSpcReduction="10000"/>
          </a:bodyPr>
          <a:lstStyle/>
          <a:p>
            <a:r>
              <a:rPr lang="el-GR" b="1" dirty="0"/>
              <a:t>F1-score: </a:t>
            </a:r>
            <a:endParaRPr lang="en-US" dirty="0"/>
          </a:p>
          <a:p>
            <a:r>
              <a:rPr lang="el-GR" dirty="0"/>
              <a:t>Το </a:t>
            </a:r>
            <a:r>
              <a:rPr lang="en-US" dirty="0"/>
              <a:t>F</a:t>
            </a:r>
            <a:r>
              <a:rPr lang="el-GR" dirty="0"/>
              <a:t>1-</a:t>
            </a:r>
            <a:r>
              <a:rPr lang="en-US" dirty="0"/>
              <a:t>score</a:t>
            </a:r>
            <a:r>
              <a:rPr lang="el-GR" dirty="0"/>
              <a:t> χρησιμοποιείται για την αξιολόγηση μοντέλων ταξινόμησης και λαμβάνει υπόψιν του τα </a:t>
            </a:r>
            <a:r>
              <a:rPr lang="el-GR" dirty="0" err="1"/>
              <a:t>false</a:t>
            </a:r>
            <a:r>
              <a:rPr lang="el-GR" dirty="0"/>
              <a:t> </a:t>
            </a:r>
            <a:r>
              <a:rPr lang="el-GR" dirty="0" err="1"/>
              <a:t>positives</a:t>
            </a:r>
            <a:r>
              <a:rPr lang="el-GR" dirty="0"/>
              <a:t> και τα </a:t>
            </a:r>
            <a:r>
              <a:rPr lang="el-GR" dirty="0" err="1"/>
              <a:t>false</a:t>
            </a:r>
            <a:r>
              <a:rPr lang="el-GR" dirty="0"/>
              <a:t> </a:t>
            </a:r>
            <a:r>
              <a:rPr lang="el-GR" dirty="0" err="1"/>
              <a:t>negatives</a:t>
            </a:r>
            <a:r>
              <a:rPr lang="el-GR" dirty="0"/>
              <a:t>. Το F1-score είναι ο συνδυασμός </a:t>
            </a:r>
            <a:r>
              <a:rPr lang="el-GR" dirty="0" err="1"/>
              <a:t>precision</a:t>
            </a:r>
            <a:r>
              <a:rPr lang="el-GR" dirty="0"/>
              <a:t> και </a:t>
            </a:r>
            <a:r>
              <a:rPr lang="el-GR" dirty="0" err="1"/>
              <a:t>recall</a:t>
            </a:r>
            <a:r>
              <a:rPr lang="el-GR" dirty="0"/>
              <a:t>, και ο σταθμισμένος - "</a:t>
            </a:r>
            <a:r>
              <a:rPr lang="el-GR" dirty="0" err="1"/>
              <a:t>weighted</a:t>
            </a:r>
            <a:r>
              <a:rPr lang="el-GR" dirty="0"/>
              <a:t>" μέσος όρος λαμβάνει υπόψη την υποστήριξη (</a:t>
            </a:r>
            <a:r>
              <a:rPr lang="el-GR" dirty="0" err="1"/>
              <a:t>support</a:t>
            </a:r>
            <a:r>
              <a:rPr lang="el-GR" dirty="0"/>
              <a:t>) κάθε κλάσης.  </a:t>
            </a:r>
            <a:endParaRPr lang="en-US" dirty="0"/>
          </a:p>
          <a:p>
            <a:r>
              <a:rPr lang="en-US" b="1" dirty="0"/>
              <a:t>F1_Score = 2 * (Precision * Recall) / (Precision + Recall)</a:t>
            </a:r>
            <a:r>
              <a:rPr lang="en-US" dirty="0"/>
              <a:t>, </a:t>
            </a:r>
            <a:r>
              <a:rPr lang="el-GR" dirty="0"/>
              <a:t>όπου</a:t>
            </a:r>
            <a:r>
              <a:rPr lang="en-US" dirty="0"/>
              <a:t>:</a:t>
            </a:r>
          </a:p>
          <a:p>
            <a:r>
              <a:rPr lang="en-US" b="1" dirty="0"/>
              <a:t>Precision = True Positives / True Positives + False Positives</a:t>
            </a:r>
            <a:endParaRPr lang="en-US" dirty="0"/>
          </a:p>
          <a:p>
            <a:r>
              <a:rPr lang="en-US" b="1" dirty="0"/>
              <a:t>Recall = True Positives / True Positives + False Negatives</a:t>
            </a:r>
            <a:endParaRPr lang="en-US" dirty="0"/>
          </a:p>
          <a:p>
            <a:r>
              <a:rPr lang="el-GR" dirty="0"/>
              <a:t>Καθώς επιλέχθηκε σταθμισμένος μέσος όρος Το F1-score κάθε κλάσης πολλαπλασιάζεται με την υποστήριξη (</a:t>
            </a:r>
            <a:r>
              <a:rPr lang="el-GR" dirty="0" err="1"/>
              <a:t>support</a:t>
            </a:r>
            <a:r>
              <a:rPr lang="el-GR" dirty="0"/>
              <a:t>) της κλάσης, δηλαδή τον αριθμό των δειγμάτων που ανήκουν σε αυτήν την κλάση. Ο σταθμισμένος μέσος όρος υπολογίζεται ως:</a:t>
            </a:r>
            <a:endParaRPr lang="en-US" dirty="0"/>
          </a:p>
          <a:p>
            <a:r>
              <a:rPr lang="en-US" b="1" dirty="0"/>
              <a:t>Support</a:t>
            </a:r>
            <a:r>
              <a:rPr lang="el-GR" b="1" dirty="0"/>
              <a:t>: </a:t>
            </a:r>
            <a:r>
              <a:rPr lang="el-GR" dirty="0"/>
              <a:t>αριθμός των δειγμάτων που ανήκουν σε αυτήν την κλάση</a:t>
            </a:r>
            <a:endParaRPr lang="en-US" dirty="0"/>
          </a:p>
          <a:p>
            <a:r>
              <a:rPr lang="en-US" b="1" dirty="0"/>
              <a:t>Weighted_F1 = (F1_1 * Support_1 + F1_2 * Support_2 + ... + F1_n * </a:t>
            </a:r>
            <a:r>
              <a:rPr lang="en-US" b="1" dirty="0" err="1"/>
              <a:t>Support_n</a:t>
            </a:r>
            <a:r>
              <a:rPr lang="en-US" b="1" dirty="0"/>
              <a:t>) / </a:t>
            </a:r>
            <a:r>
              <a:rPr lang="en-US" b="1" dirty="0" err="1"/>
              <a:t>Total_Support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1786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454850"/>
            <a:ext cx="7729728" cy="1188720"/>
          </a:xfrm>
        </p:spPr>
        <p:txBody>
          <a:bodyPr/>
          <a:lstStyle/>
          <a:p>
            <a:r>
              <a:rPr lang="en-US" dirty="0" smtClean="0"/>
              <a:t>evaluation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4526"/>
          <a:stretch/>
        </p:blipFill>
        <p:spPr>
          <a:xfrm>
            <a:off x="850745" y="1870139"/>
            <a:ext cx="5205091" cy="43196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331" y="3684234"/>
            <a:ext cx="4499055" cy="69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025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Confusion matrix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74" y="2386584"/>
            <a:ext cx="4837211" cy="422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282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75" y="911416"/>
            <a:ext cx="7760881" cy="1219306"/>
          </a:xfrm>
          <a:prstGeom prst="rect">
            <a:avLst/>
          </a:prstGeom>
        </p:spPr>
      </p:pic>
      <p:pic>
        <p:nvPicPr>
          <p:cNvPr id="5122" name="Picture 2" descr="Confusion Matrix: How To Use It &amp; Interpret Results [Examples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83" y="2417159"/>
            <a:ext cx="4952756" cy="362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easuring Performance: The Confusion Matrix – Glass Box Medic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251" y="2541602"/>
            <a:ext cx="5585802" cy="314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0396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04" y="135754"/>
            <a:ext cx="7557962" cy="659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257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393192"/>
            <a:ext cx="7729728" cy="1188720"/>
          </a:xfrm>
        </p:spPr>
        <p:txBody>
          <a:bodyPr/>
          <a:lstStyle/>
          <a:p>
            <a:r>
              <a:rPr lang="el-GR" dirty="0" err="1" smtClean="0"/>
              <a:t>Βελτιωση</a:t>
            </a:r>
            <a:r>
              <a:rPr lang="el-GR" dirty="0" smtClean="0"/>
              <a:t> </a:t>
            </a:r>
            <a:r>
              <a:rPr lang="el-GR" dirty="0" err="1" smtClean="0"/>
              <a:t>αλγοριθμου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1767606"/>
            <a:ext cx="7729728" cy="3101983"/>
          </a:xfrm>
        </p:spPr>
        <p:txBody>
          <a:bodyPr>
            <a:normAutofit/>
          </a:bodyPr>
          <a:lstStyle/>
          <a:p>
            <a:r>
              <a:rPr lang="el-GR" b="1" dirty="0" smtClean="0"/>
              <a:t>Δοκιμή παραλλαγών </a:t>
            </a:r>
            <a:r>
              <a:rPr lang="el-GR" dirty="0" smtClean="0"/>
              <a:t>(</a:t>
            </a:r>
            <a:r>
              <a:rPr lang="en-US" dirty="0" err="1" smtClean="0"/>
              <a:t>complementNB</a:t>
            </a:r>
            <a:r>
              <a:rPr lang="el-GR" dirty="0" smtClean="0"/>
              <a:t>)</a:t>
            </a:r>
          </a:p>
          <a:p>
            <a:r>
              <a:rPr lang="en-US" sz="1600" dirty="0">
                <a:solidFill>
                  <a:srgbClr val="0070C0"/>
                </a:solidFill>
              </a:rPr>
              <a:t>The Complement Naive Bayes classifier was designed to correct the “severe assumptions” made by the standard Multinomial Naive Bayes classifier. It is particularly suited for imbalanced data sets.</a:t>
            </a:r>
            <a:endParaRPr lang="en-US" sz="1600" dirty="0" smtClean="0">
              <a:solidFill>
                <a:srgbClr val="0070C0"/>
              </a:solidFill>
            </a:endParaRPr>
          </a:p>
          <a:p>
            <a:r>
              <a:rPr lang="en-US" dirty="0"/>
              <a:t> </a:t>
            </a:r>
            <a:r>
              <a:rPr lang="en-US" dirty="0" smtClean="0"/>
              <a:t>  accuracy                               </a:t>
            </a:r>
            <a:r>
              <a:rPr lang="en-US" b="1" dirty="0">
                <a:solidFill>
                  <a:srgbClr val="FFFF00"/>
                </a:solidFill>
              </a:rPr>
              <a:t>0.70</a:t>
            </a:r>
            <a:r>
              <a:rPr lang="en-US" b="1" dirty="0"/>
              <a:t> </a:t>
            </a:r>
            <a:r>
              <a:rPr lang="en-US" dirty="0"/>
              <a:t>     7532</a:t>
            </a:r>
          </a:p>
          <a:p>
            <a:pPr marL="0" indent="0">
              <a:buNone/>
            </a:pPr>
            <a:r>
              <a:rPr lang="en-US" dirty="0" smtClean="0"/>
              <a:t>    macro </a:t>
            </a:r>
            <a:r>
              <a:rPr lang="en-US" dirty="0" err="1"/>
              <a:t>avg</a:t>
            </a:r>
            <a:r>
              <a:rPr lang="en-US" dirty="0"/>
              <a:t>       </a:t>
            </a:r>
            <a:r>
              <a:rPr lang="en-US" dirty="0" smtClean="0"/>
              <a:t>0.70      </a:t>
            </a:r>
            <a:r>
              <a:rPr lang="en-US" dirty="0"/>
              <a:t>0.69      0.68      </a:t>
            </a:r>
            <a:r>
              <a:rPr lang="en-US" dirty="0" smtClean="0"/>
              <a:t>7532</a:t>
            </a:r>
          </a:p>
          <a:p>
            <a:pPr marL="0" indent="0">
              <a:buNone/>
            </a:pPr>
            <a:r>
              <a:rPr lang="en-US" dirty="0" smtClean="0"/>
              <a:t>weighted </a:t>
            </a:r>
            <a:r>
              <a:rPr lang="en-US" dirty="0" err="1"/>
              <a:t>avg</a:t>
            </a:r>
            <a:r>
              <a:rPr lang="en-US" dirty="0"/>
              <a:t>       0.71      0.70      0.70      7532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844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Βελτιωση</a:t>
            </a:r>
            <a:r>
              <a:rPr lang="el-GR" dirty="0"/>
              <a:t> </a:t>
            </a:r>
            <a:r>
              <a:rPr lang="el-GR" dirty="0" err="1"/>
              <a:t>αλγοριθμου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Hyperparameter</a:t>
            </a:r>
            <a:r>
              <a:rPr lang="en-US" dirty="0" smtClean="0"/>
              <a:t> tuning</a:t>
            </a:r>
          </a:p>
          <a:p>
            <a:r>
              <a:rPr lang="en-US" dirty="0" smtClean="0"/>
              <a:t>Gird search</a:t>
            </a:r>
          </a:p>
          <a:p>
            <a:r>
              <a:rPr lang="en-US" dirty="0"/>
              <a:t>Best parameters: {'</a:t>
            </a:r>
            <a:r>
              <a:rPr lang="en-US" dirty="0" err="1"/>
              <a:t>classifier__alpha</a:t>
            </a:r>
            <a:r>
              <a:rPr lang="en-US" dirty="0"/>
              <a:t>': 0.1, '</a:t>
            </a:r>
            <a:r>
              <a:rPr lang="en-US" dirty="0" err="1"/>
              <a:t>vectorizer</a:t>
            </a:r>
            <a:r>
              <a:rPr lang="en-US" dirty="0"/>
              <a:t>__</a:t>
            </a:r>
            <a:r>
              <a:rPr lang="en-US" dirty="0" err="1"/>
              <a:t>max_df</a:t>
            </a:r>
            <a:r>
              <a:rPr lang="en-US" dirty="0"/>
              <a:t>': 0.8, '</a:t>
            </a:r>
            <a:r>
              <a:rPr lang="en-US" dirty="0" err="1"/>
              <a:t>vectorizer</a:t>
            </a:r>
            <a:r>
              <a:rPr lang="en-US" dirty="0"/>
              <a:t>__</a:t>
            </a:r>
            <a:r>
              <a:rPr lang="en-US" dirty="0" err="1"/>
              <a:t>max_features</a:t>
            </a:r>
            <a:r>
              <a:rPr lang="en-US" dirty="0"/>
              <a:t>': 30000, '</a:t>
            </a:r>
            <a:r>
              <a:rPr lang="en-US" dirty="0" err="1"/>
              <a:t>vectorizer</a:t>
            </a:r>
            <a:r>
              <a:rPr lang="en-US" dirty="0"/>
              <a:t>__</a:t>
            </a:r>
            <a:r>
              <a:rPr lang="en-US" dirty="0" err="1"/>
              <a:t>min_df</a:t>
            </a:r>
            <a:r>
              <a:rPr lang="en-US" dirty="0"/>
              <a:t>': 2, '</a:t>
            </a:r>
            <a:r>
              <a:rPr lang="en-US" dirty="0" err="1"/>
              <a:t>vectorizer</a:t>
            </a:r>
            <a:r>
              <a:rPr lang="en-US" dirty="0"/>
              <a:t>__</a:t>
            </a:r>
            <a:r>
              <a:rPr lang="en-US" dirty="0" err="1"/>
              <a:t>ngram_range</a:t>
            </a:r>
            <a:r>
              <a:rPr lang="en-US" dirty="0"/>
              <a:t>': (1, 1)}</a:t>
            </a:r>
          </a:p>
          <a:p>
            <a:r>
              <a:rPr lang="en-US" dirty="0"/>
              <a:t>Best cross-validation score: 0.7471</a:t>
            </a:r>
          </a:p>
          <a:p>
            <a:r>
              <a:rPr lang="en-US" dirty="0"/>
              <a:t>Test set accuracy: </a:t>
            </a:r>
            <a:r>
              <a:rPr lang="en-US" dirty="0" smtClean="0"/>
              <a:t>0.7007 (</a:t>
            </a:r>
            <a:r>
              <a:rPr lang="el-GR" dirty="0" smtClean="0"/>
              <a:t>όχι και πολύ </a:t>
            </a:r>
            <a:r>
              <a:rPr lang="el-GR" dirty="0" err="1" smtClean="0"/>
              <a:t>καλυτερα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744" y="4424659"/>
            <a:ext cx="2061528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320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Βελτιωση</a:t>
            </a:r>
            <a:r>
              <a:rPr lang="el-GR" dirty="0"/>
              <a:t> </a:t>
            </a:r>
            <a:r>
              <a:rPr lang="el-GR" dirty="0" err="1" smtClean="0"/>
              <a:t>συστηματοσ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dirty="0" smtClean="0"/>
              <a:t>Δοκιμή άλλων αλγορίθμων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0781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RESULTS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62" y="2597836"/>
            <a:ext cx="11051931" cy="363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363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ΠΡΟΕΤΟΙΜΑΣΙΑ ΓΙΑ ΤΙΤΑΝΙΚΟ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Naïve Bayes (fast)</a:t>
            </a:r>
          </a:p>
          <a:p>
            <a:r>
              <a:rPr lang="en-US" dirty="0" smtClean="0"/>
              <a:t>Logistic Regression (baseline for </a:t>
            </a:r>
            <a:r>
              <a:rPr lang="en-US" dirty="0"/>
              <a:t>binary </a:t>
            </a:r>
            <a:r>
              <a:rPr lang="en-US" dirty="0" smtClean="0"/>
              <a:t>classification)</a:t>
            </a:r>
          </a:p>
          <a:p>
            <a:r>
              <a:rPr lang="en-US" dirty="0" smtClean="0"/>
              <a:t>More complex:</a:t>
            </a:r>
          </a:p>
          <a:p>
            <a:pPr lvl="1"/>
            <a:r>
              <a:rPr lang="en-US" dirty="0" smtClean="0"/>
              <a:t>Random forest</a:t>
            </a:r>
          </a:p>
          <a:p>
            <a:pPr lvl="1"/>
            <a:r>
              <a:rPr lang="en-US" dirty="0" err="1" smtClean="0"/>
              <a:t>XGBoost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Idea: </a:t>
            </a:r>
            <a:r>
              <a:rPr lang="el-GR" dirty="0" smtClean="0"/>
              <a:t>Να </a:t>
            </a:r>
            <a:r>
              <a:rPr lang="el-GR" dirty="0" err="1" smtClean="0"/>
              <a:t>δειξω</a:t>
            </a:r>
            <a:r>
              <a:rPr lang="el-GR" dirty="0" smtClean="0"/>
              <a:t> </a:t>
            </a:r>
            <a:r>
              <a:rPr lang="el-GR" dirty="0" err="1" smtClean="0"/>
              <a:t>τωρα</a:t>
            </a:r>
            <a:r>
              <a:rPr lang="el-GR" dirty="0" smtClean="0"/>
              <a:t> </a:t>
            </a:r>
            <a:r>
              <a:rPr lang="en-US" dirty="0" err="1" smtClean="0"/>
              <a:t>XGBoost</a:t>
            </a:r>
            <a:endParaRPr lang="en-US" dirty="0" smtClean="0"/>
          </a:p>
          <a:p>
            <a:r>
              <a:rPr lang="el-GR" dirty="0" smtClean="0"/>
              <a:t>Και να </a:t>
            </a:r>
            <a:r>
              <a:rPr lang="el-GR" dirty="0" err="1" smtClean="0"/>
              <a:t>ξεκινησουμε</a:t>
            </a:r>
            <a:r>
              <a:rPr lang="el-GR" dirty="0" smtClean="0"/>
              <a:t> τον </a:t>
            </a:r>
            <a:r>
              <a:rPr lang="el-GR" dirty="0" err="1" smtClean="0"/>
              <a:t>τιτανικο</a:t>
            </a:r>
            <a:r>
              <a:rPr lang="el-GR" dirty="0" smtClean="0"/>
              <a:t> με </a:t>
            </a:r>
            <a:r>
              <a:rPr lang="en-US" dirty="0" smtClean="0"/>
              <a:t>LR </a:t>
            </a:r>
            <a:r>
              <a:rPr lang="el-GR" dirty="0" smtClean="0"/>
              <a:t>για </a:t>
            </a:r>
            <a:r>
              <a:rPr lang="en-US" dirty="0" smtClean="0"/>
              <a:t>baseline </a:t>
            </a:r>
            <a:r>
              <a:rPr lang="el-GR" dirty="0" err="1" smtClean="0"/>
              <a:t>συγκριση</a:t>
            </a:r>
            <a:r>
              <a:rPr lang="el-GR" dirty="0" smtClean="0"/>
              <a:t> </a:t>
            </a:r>
            <a:r>
              <a:rPr lang="el-GR" dirty="0" err="1" smtClean="0"/>
              <a:t>μετα</a:t>
            </a:r>
            <a:r>
              <a:rPr lang="el-GR" dirty="0" smtClean="0"/>
              <a:t> πιο </a:t>
            </a:r>
            <a:r>
              <a:rPr lang="el-GR" dirty="0" err="1" smtClean="0"/>
              <a:t>περιπλοκων</a:t>
            </a:r>
            <a:endParaRPr lang="el-GR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318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76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XGBOOST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XGBoost</a:t>
            </a:r>
            <a:r>
              <a:rPr lang="en-US" dirty="0"/>
              <a:t> is an optimized distributed gradient boosting library designed to be highly </a:t>
            </a:r>
            <a:r>
              <a:rPr lang="en-US" b="1" dirty="0"/>
              <a:t>efficient</a:t>
            </a:r>
            <a:r>
              <a:rPr lang="en-US" dirty="0"/>
              <a:t>, </a:t>
            </a:r>
            <a:r>
              <a:rPr lang="en-US" b="1" dirty="0"/>
              <a:t>flexible</a:t>
            </a:r>
            <a:r>
              <a:rPr lang="en-US" dirty="0"/>
              <a:t> and </a:t>
            </a:r>
            <a:r>
              <a:rPr lang="en-US" b="1" dirty="0"/>
              <a:t>portable</a:t>
            </a:r>
            <a:r>
              <a:rPr lang="en-US" dirty="0"/>
              <a:t>. </a:t>
            </a:r>
            <a:endParaRPr lang="en-US" dirty="0" smtClean="0"/>
          </a:p>
          <a:p>
            <a:pPr lvl="1"/>
            <a:r>
              <a:rPr lang="en-US" dirty="0"/>
              <a:t> </a:t>
            </a:r>
            <a:r>
              <a:rPr lang="en-US" dirty="0">
                <a:hlinkClick r:id="rId2" tooltip="C++"/>
              </a:rPr>
              <a:t>C++</a:t>
            </a:r>
            <a:r>
              <a:rPr lang="en-US" dirty="0"/>
              <a:t>, </a:t>
            </a:r>
            <a:r>
              <a:rPr lang="en-US" dirty="0">
                <a:hlinkClick r:id="rId3" tooltip="Java (programming language)"/>
              </a:rPr>
              <a:t>Java</a:t>
            </a:r>
            <a:r>
              <a:rPr lang="en-US" dirty="0"/>
              <a:t>, </a:t>
            </a:r>
            <a:r>
              <a:rPr lang="en-US" dirty="0">
                <a:hlinkClick r:id="rId4" tooltip="Python (programming language)"/>
              </a:rPr>
              <a:t>Python</a:t>
            </a:r>
            <a:r>
              <a:rPr lang="en-US" dirty="0"/>
              <a:t>,</a:t>
            </a:r>
            <a:r>
              <a:rPr lang="en-US" baseline="30000" dirty="0">
                <a:hlinkClick r:id="rId5"/>
              </a:rPr>
              <a:t>[3]</a:t>
            </a:r>
            <a:r>
              <a:rPr lang="en-US" dirty="0"/>
              <a:t> </a:t>
            </a:r>
            <a:r>
              <a:rPr lang="en-US" dirty="0">
                <a:hlinkClick r:id="rId6" tooltip="R (programming language)"/>
              </a:rPr>
              <a:t>R</a:t>
            </a:r>
            <a:r>
              <a:rPr lang="en-US" dirty="0"/>
              <a:t>,</a:t>
            </a:r>
            <a:r>
              <a:rPr lang="en-US" baseline="30000" dirty="0">
                <a:hlinkClick r:id="rId7"/>
              </a:rPr>
              <a:t>[4]</a:t>
            </a:r>
            <a:r>
              <a:rPr lang="en-US" dirty="0"/>
              <a:t> </a:t>
            </a:r>
            <a:r>
              <a:rPr lang="en-US" dirty="0">
                <a:hlinkClick r:id="rId8" tooltip="Julia (programming language)"/>
              </a:rPr>
              <a:t>Julia</a:t>
            </a:r>
            <a:r>
              <a:rPr lang="en-US" dirty="0"/>
              <a:t>,</a:t>
            </a:r>
            <a:r>
              <a:rPr lang="en-US" baseline="30000" dirty="0">
                <a:hlinkClick r:id="rId9"/>
              </a:rPr>
              <a:t>[5]</a:t>
            </a:r>
            <a:r>
              <a:rPr lang="en-US" dirty="0"/>
              <a:t> </a:t>
            </a:r>
            <a:r>
              <a:rPr lang="en-US" dirty="0">
                <a:hlinkClick r:id="rId10" tooltip="Perl (programming language)"/>
              </a:rPr>
              <a:t>Perl</a:t>
            </a:r>
            <a:r>
              <a:rPr lang="en-US" dirty="0"/>
              <a:t>,</a:t>
            </a:r>
            <a:r>
              <a:rPr lang="en-US" baseline="30000" dirty="0">
                <a:hlinkClick r:id="rId11"/>
              </a:rPr>
              <a:t>[6]</a:t>
            </a:r>
            <a:r>
              <a:rPr lang="en-US" dirty="0"/>
              <a:t> and </a:t>
            </a:r>
            <a:r>
              <a:rPr lang="en-US" dirty="0">
                <a:hlinkClick r:id="rId12" tooltip="Scala (programming language)"/>
              </a:rPr>
              <a:t>Scala</a:t>
            </a:r>
            <a:r>
              <a:rPr lang="en-US" dirty="0"/>
              <a:t>. It works on </a:t>
            </a:r>
            <a:r>
              <a:rPr lang="en-US" dirty="0">
                <a:hlinkClick r:id="rId13" tooltip="Linux"/>
              </a:rPr>
              <a:t>Linux</a:t>
            </a:r>
            <a:r>
              <a:rPr lang="en-US" dirty="0"/>
              <a:t>, </a:t>
            </a:r>
            <a:r>
              <a:rPr lang="en-US" dirty="0">
                <a:hlinkClick r:id="rId14" tooltip="Microsoft Windows"/>
              </a:rPr>
              <a:t>Microsoft Windows</a:t>
            </a:r>
            <a:r>
              <a:rPr lang="en-US" dirty="0"/>
              <a:t>,</a:t>
            </a:r>
            <a:r>
              <a:rPr lang="en-US" baseline="30000" dirty="0">
                <a:hlinkClick r:id="rId15"/>
              </a:rPr>
              <a:t>[7]</a:t>
            </a:r>
            <a:r>
              <a:rPr lang="en-US" dirty="0"/>
              <a:t> and </a:t>
            </a:r>
            <a:r>
              <a:rPr lang="en-US" dirty="0" err="1">
                <a:hlinkClick r:id="rId16" tooltip="MacOS"/>
              </a:rPr>
              <a:t>macOS</a:t>
            </a:r>
            <a:r>
              <a:rPr lang="en-US" dirty="0"/>
              <a:t>.</a:t>
            </a:r>
            <a:r>
              <a:rPr lang="en-US" baseline="30000" dirty="0">
                <a:hlinkClick r:id="rId17"/>
              </a:rPr>
              <a:t>[8]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>
                <a:hlinkClick r:id="rId18"/>
              </a:rPr>
              <a:t>https://</a:t>
            </a:r>
            <a:r>
              <a:rPr lang="en-US" dirty="0" smtClean="0">
                <a:hlinkClick r:id="rId18"/>
              </a:rPr>
              <a:t>xgboost.readthedocs.io/en/stable/tutorials/model.html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922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xgboost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576498"/>
            <a:ext cx="7729728" cy="3101983"/>
          </a:xfrm>
        </p:spPr>
        <p:txBody>
          <a:bodyPr/>
          <a:lstStyle/>
          <a:p>
            <a:r>
              <a:rPr lang="el-GR" b="1" dirty="0"/>
              <a:t>Αναγνώριση κλάσεων:</a:t>
            </a:r>
            <a:r>
              <a:rPr lang="el-GR" dirty="0"/>
              <a:t> </a:t>
            </a:r>
            <a:endParaRPr lang="en-US" dirty="0"/>
          </a:p>
          <a:p>
            <a:r>
              <a:rPr lang="en-US" dirty="0" smtClean="0"/>
              <a:t>K </a:t>
            </a:r>
            <a:r>
              <a:rPr lang="el-GR" dirty="0" smtClean="0"/>
              <a:t>μοναδικές </a:t>
            </a:r>
            <a:r>
              <a:rPr lang="el-GR" dirty="0"/>
              <a:t>κλάσεις στο </a:t>
            </a:r>
            <a:r>
              <a:rPr lang="el-GR" dirty="0" err="1"/>
              <a:t>y_train</a:t>
            </a:r>
            <a:r>
              <a:rPr lang="el-GR" dirty="0"/>
              <a:t> </a:t>
            </a:r>
            <a:endParaRPr lang="en-US" dirty="0" smtClean="0"/>
          </a:p>
          <a:p>
            <a:r>
              <a:rPr lang="en-US" dirty="0" smtClean="0"/>
              <a:t>K </a:t>
            </a:r>
            <a:r>
              <a:rPr lang="el-GR" b="1" dirty="0" smtClean="0"/>
              <a:t>ξεχωριστά </a:t>
            </a:r>
            <a:r>
              <a:rPr lang="el-GR" b="1" dirty="0" err="1"/>
              <a:t>ensembles</a:t>
            </a:r>
            <a:r>
              <a:rPr lang="el-GR" dirty="0"/>
              <a:t> (σύνολα από δέντρα ) – ένα για κάθε κλάση. </a:t>
            </a:r>
            <a:endParaRPr lang="en-US" dirty="0" smtClean="0"/>
          </a:p>
          <a:p>
            <a:r>
              <a:rPr lang="el-GR" dirty="0" smtClean="0"/>
              <a:t>Στο </a:t>
            </a:r>
            <a:r>
              <a:rPr lang="el-GR" dirty="0"/>
              <a:t>τέλος της εκπαίδευσης, το </a:t>
            </a:r>
            <a:r>
              <a:rPr lang="el-GR" dirty="0" err="1"/>
              <a:t>XGBoost</a:t>
            </a:r>
            <a:r>
              <a:rPr lang="el-GR" dirty="0"/>
              <a:t> παράγει </a:t>
            </a:r>
            <a:r>
              <a:rPr lang="en-US" b="1" dirty="0"/>
              <a:t>K</a:t>
            </a:r>
            <a:r>
              <a:rPr lang="el-GR" b="1" dirty="0" smtClean="0"/>
              <a:t> </a:t>
            </a:r>
            <a:r>
              <a:rPr lang="el-GR" b="1" dirty="0" err="1"/>
              <a:t>raw</a:t>
            </a:r>
            <a:r>
              <a:rPr lang="el-GR" b="1" dirty="0"/>
              <a:t> </a:t>
            </a:r>
            <a:r>
              <a:rPr lang="el-GR" b="1" dirty="0" err="1"/>
              <a:t>scores</a:t>
            </a:r>
            <a:r>
              <a:rPr lang="el-GR" dirty="0"/>
              <a:t> (ένα για κάθε κλάση), τα οποία μετατρέπονται σε πιθανότητες μέσω της συνάρτησης </a:t>
            </a:r>
            <a:r>
              <a:rPr lang="el-GR" b="1" i="1" dirty="0" err="1"/>
              <a:t>softmax</a:t>
            </a:r>
            <a:r>
              <a:rPr lang="el-GR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6296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 err="1" smtClean="0"/>
              <a:t>Δεντρο</a:t>
            </a:r>
            <a:r>
              <a:rPr lang="el-GR" b="1" dirty="0" smtClean="0"/>
              <a:t> </a:t>
            </a:r>
            <a:r>
              <a:rPr lang="el-GR" b="1" dirty="0" err="1" smtClean="0"/>
              <a:t>Αποφασης</a:t>
            </a:r>
            <a:endParaRPr lang="en-US" dirty="0"/>
          </a:p>
        </p:txBody>
      </p:sp>
      <p:pic>
        <p:nvPicPr>
          <p:cNvPr id="5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125" y="2638425"/>
            <a:ext cx="6659751" cy="3101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30109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 err="1" smtClean="0"/>
              <a:t>Δεντρο</a:t>
            </a:r>
            <a:r>
              <a:rPr lang="el-GR" b="1" dirty="0" smtClean="0"/>
              <a:t> </a:t>
            </a:r>
            <a:r>
              <a:rPr lang="el-GR" b="1" dirty="0" err="1" smtClean="0"/>
              <a:t>Αποφασης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l-GR" b="1" dirty="0" smtClean="0"/>
              <a:t>Ρίζα </a:t>
            </a:r>
            <a:r>
              <a:rPr lang="el-GR" b="1" dirty="0"/>
              <a:t>(</a:t>
            </a:r>
            <a:r>
              <a:rPr lang="en-US" b="1" dirty="0"/>
              <a:t>Root Node</a:t>
            </a:r>
            <a:r>
              <a:rPr lang="el-GR" b="1" dirty="0"/>
              <a:t>)</a:t>
            </a:r>
            <a:r>
              <a:rPr lang="el-GR" dirty="0"/>
              <a:t>: Ο αρχικός κόμβος που περιλαμβάνει όλα τα δεδομένα και ξεκινά τη διαδικασία διαχωρισμού.</a:t>
            </a:r>
            <a:endParaRPr lang="en-US" dirty="0"/>
          </a:p>
          <a:p>
            <a:pPr lvl="0"/>
            <a:r>
              <a:rPr lang="el-GR" b="1" dirty="0"/>
              <a:t>Κόμβοι Απόφασης (</a:t>
            </a:r>
            <a:r>
              <a:rPr lang="el-GR" b="1" dirty="0" err="1"/>
              <a:t>Decision</a:t>
            </a:r>
            <a:r>
              <a:rPr lang="el-GR" b="1" dirty="0"/>
              <a:t> </a:t>
            </a:r>
            <a:r>
              <a:rPr lang="el-GR" b="1" dirty="0" err="1"/>
              <a:t>Nodes</a:t>
            </a:r>
            <a:r>
              <a:rPr lang="el-GR" b="1" dirty="0"/>
              <a:t>)</a:t>
            </a:r>
            <a:r>
              <a:rPr lang="el-GR" dirty="0"/>
              <a:t>: Ενδιάμεσοι κόμβοι που διαχωρίζουν τα δεδομένα με βάση συγκεκριμένα χαρακτηριστικά.</a:t>
            </a:r>
            <a:endParaRPr lang="en-US" dirty="0"/>
          </a:p>
          <a:p>
            <a:pPr lvl="0"/>
            <a:r>
              <a:rPr lang="el-GR" b="1" dirty="0"/>
              <a:t>Φύλλα (</a:t>
            </a:r>
            <a:r>
              <a:rPr lang="el-GR" b="1" dirty="0" err="1"/>
              <a:t>Leaf</a:t>
            </a:r>
            <a:r>
              <a:rPr lang="el-GR" b="1" dirty="0"/>
              <a:t> </a:t>
            </a:r>
            <a:r>
              <a:rPr lang="el-GR" b="1" dirty="0" err="1"/>
              <a:t>Nodes</a:t>
            </a:r>
            <a:r>
              <a:rPr lang="el-GR" b="1" dirty="0"/>
              <a:t>)</a:t>
            </a:r>
            <a:r>
              <a:rPr lang="el-GR" dirty="0"/>
              <a:t>: Τελικοί κόμβοι που περιέχουν την πρόβλεψη (π.χ. ετικέτα κατηγορίας ή τιμή παλινδρόμησης).</a:t>
            </a:r>
            <a:endParaRPr lang="en-US" dirty="0"/>
          </a:p>
          <a:p>
            <a:pPr lvl="0"/>
            <a:r>
              <a:rPr lang="el-GR" b="1" dirty="0"/>
              <a:t>Κριτήριο Διαχωρισμού (</a:t>
            </a:r>
            <a:r>
              <a:rPr lang="el-GR" b="1" dirty="0" err="1"/>
              <a:t>Splitting</a:t>
            </a:r>
            <a:r>
              <a:rPr lang="el-GR" b="1" dirty="0"/>
              <a:t> </a:t>
            </a:r>
            <a:r>
              <a:rPr lang="el-GR" b="1" dirty="0" err="1"/>
              <a:t>Criteria</a:t>
            </a:r>
            <a:r>
              <a:rPr lang="el-GR" b="1" dirty="0"/>
              <a:t>)</a:t>
            </a:r>
            <a:r>
              <a:rPr lang="el-GR" dirty="0"/>
              <a:t>: Ο τρόπος με τον οποίο αποφασίζεται ο διαχωρισμός των δεδομένων. (</a:t>
            </a:r>
            <a:r>
              <a:rPr lang="en-US" dirty="0"/>
              <a:t>log loss</a:t>
            </a:r>
            <a:r>
              <a:rPr lang="el-GR" dirty="0"/>
              <a:t> για ταξινόμηση)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4138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125" y="2638425"/>
            <a:ext cx="6659751" cy="31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1502229" y="611380"/>
            <a:ext cx="942391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Τα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πιθανά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αντιστοιχούν στις 10 χιλιάδες στήλες του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TF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IDF matrix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δηλαδή στα 10_000 συχνότερα μοναδικά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διγράμματα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/λέξεις που εμφανίζονται στα έγγραφα.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Οι τιμές των  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Leaf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Nodes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είναι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raw scores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logits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δηλαδή δεν αντιπροσωπεύουν ακόμα πιθανότητα, αλλά είναι απλά τι υπολογίστηκε από την αντικειμενική συνάρτηση /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 function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που χρησιμοποιεί ο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XGBoost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3554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023" y="355649"/>
            <a:ext cx="7729728" cy="1188720"/>
          </a:xfrm>
        </p:spPr>
        <p:txBody>
          <a:bodyPr/>
          <a:lstStyle/>
          <a:p>
            <a:r>
              <a:rPr lang="el-GR" dirty="0" err="1" smtClean="0"/>
              <a:t>Συνδυασμοσ</a:t>
            </a:r>
            <a:r>
              <a:rPr lang="el-GR" dirty="0" smtClean="0"/>
              <a:t> </a:t>
            </a:r>
            <a:r>
              <a:rPr lang="el-GR" dirty="0" err="1" smtClean="0"/>
              <a:t>δεντρων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406644" y="1647174"/>
            <a:ext cx="10991850" cy="1705395"/>
            <a:chOff x="362682" y="2472470"/>
            <a:chExt cx="10991850" cy="170539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682" y="2472470"/>
              <a:ext cx="10991850" cy="981075"/>
            </a:xfrm>
            <a:prstGeom prst="rect">
              <a:avLst/>
            </a:prstGeom>
          </p:spPr>
        </p:pic>
        <p:sp>
          <p:nvSpPr>
            <p:cNvPr id="6" name="Cross 5"/>
            <p:cNvSpPr/>
            <p:nvPr/>
          </p:nvSpPr>
          <p:spPr>
            <a:xfrm>
              <a:off x="2936630" y="2817934"/>
              <a:ext cx="272561" cy="290146"/>
            </a:xfrm>
            <a:prstGeom prst="plus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ross 6"/>
            <p:cNvSpPr/>
            <p:nvPr/>
          </p:nvSpPr>
          <p:spPr>
            <a:xfrm>
              <a:off x="5722326" y="2817934"/>
              <a:ext cx="272561" cy="290146"/>
            </a:xfrm>
            <a:prstGeom prst="plus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/>
            <p:cNvSpPr/>
            <p:nvPr/>
          </p:nvSpPr>
          <p:spPr>
            <a:xfrm>
              <a:off x="8508022" y="2817934"/>
              <a:ext cx="272561" cy="290146"/>
            </a:xfrm>
            <a:prstGeom prst="plus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Left Brace 9"/>
            <p:cNvSpPr/>
            <p:nvPr/>
          </p:nvSpPr>
          <p:spPr>
            <a:xfrm rot="16200000">
              <a:off x="5731104" y="-1824419"/>
              <a:ext cx="255006" cy="1099185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65125" y="3808533"/>
              <a:ext cx="11180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</a:t>
              </a:r>
              <a:r>
                <a:rPr lang="en-US" dirty="0" smtClean="0"/>
                <a:t>aw score</a:t>
              </a:r>
              <a:endParaRPr lang="en-US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819274" y="3481752"/>
            <a:ext cx="8166587" cy="3006969"/>
            <a:chOff x="1934308" y="3446583"/>
            <a:chExt cx="8166587" cy="3006969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9083" y="3446583"/>
              <a:ext cx="3006969" cy="3006969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934308" y="4765401"/>
              <a:ext cx="11825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Raw score</a:t>
              </a:r>
              <a:endParaRPr lang="en-US" dirty="0"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3437058" y="4857734"/>
              <a:ext cx="641839" cy="1846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841272" y="4857734"/>
              <a:ext cx="641839" cy="1846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918331" y="4765401"/>
              <a:ext cx="11825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probabilty</a:t>
              </a:r>
              <a:endParaRPr lang="en-US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234247" y="3459328"/>
            <a:ext cx="1626576" cy="92333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l-GR" b="1" dirty="0" smtClean="0">
              <a:solidFill>
                <a:schemeClr val="tx2"/>
              </a:solidFill>
            </a:endParaRPr>
          </a:p>
          <a:p>
            <a:pPr algn="ctr"/>
            <a:r>
              <a:rPr lang="el-GR" b="1" dirty="0" smtClean="0">
                <a:solidFill>
                  <a:schemeClr val="tx2"/>
                </a:solidFill>
              </a:rPr>
              <a:t>*</a:t>
            </a:r>
            <a:r>
              <a:rPr lang="en-US" b="1" dirty="0" smtClean="0">
                <a:solidFill>
                  <a:schemeClr val="tx2"/>
                </a:solidFill>
              </a:rPr>
              <a:t>K </a:t>
            </a:r>
            <a:r>
              <a:rPr lang="el-GR" b="1" dirty="0" smtClean="0">
                <a:solidFill>
                  <a:schemeClr val="tx2"/>
                </a:solidFill>
              </a:rPr>
              <a:t>κλάσεις</a:t>
            </a:r>
          </a:p>
          <a:p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6913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613" y="694518"/>
            <a:ext cx="7729728" cy="859570"/>
          </a:xfrm>
        </p:spPr>
        <p:txBody>
          <a:bodyPr/>
          <a:lstStyle/>
          <a:p>
            <a:r>
              <a:rPr lang="el-GR" dirty="0" err="1" smtClean="0"/>
              <a:t>εικονεσ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2127588"/>
            <a:ext cx="4676775" cy="3810000"/>
          </a:xfrm>
          <a:prstGeom prst="rect">
            <a:avLst/>
          </a:prstGeom>
        </p:spPr>
      </p:pic>
      <p:sp>
        <p:nvSpPr>
          <p:cNvPr id="7" name="AutoShape 6" descr="XGBoost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7500"/>
          <a:stretch/>
        </p:blipFill>
        <p:spPr>
          <a:xfrm>
            <a:off x="4967654" y="2248605"/>
            <a:ext cx="7048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191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4759" y="2242578"/>
            <a:ext cx="7729728" cy="3674645"/>
          </a:xfrm>
        </p:spPr>
        <p:txBody>
          <a:bodyPr/>
          <a:lstStyle/>
          <a:p>
            <a:r>
              <a:rPr lang="el-GR" dirty="0" smtClean="0"/>
              <a:t>Τα </a:t>
            </a:r>
            <a:r>
              <a:rPr lang="el-GR" dirty="0"/>
              <a:t>δέντρα είναι </a:t>
            </a:r>
            <a:r>
              <a:rPr lang="el-GR" dirty="0" err="1"/>
              <a:t>weak</a:t>
            </a:r>
            <a:r>
              <a:rPr lang="el-GR" dirty="0"/>
              <a:t> </a:t>
            </a:r>
            <a:r>
              <a:rPr lang="el-GR" dirty="0" err="1"/>
              <a:t>learners</a:t>
            </a:r>
            <a:r>
              <a:rPr lang="el-GR" dirty="0"/>
              <a:t>, δηλαδή απλές δομές που συνδυάζονται για να δημιουργήσουν ένα ισχυρό μοντέλο</a:t>
            </a:r>
            <a:r>
              <a:rPr lang="el-GR" dirty="0" smtClean="0"/>
              <a:t>.</a:t>
            </a:r>
          </a:p>
          <a:p>
            <a:r>
              <a:rPr lang="el-GR" dirty="0" smtClean="0"/>
              <a:t>Μικρό βάθος</a:t>
            </a:r>
            <a:endParaRPr lang="en-US" dirty="0"/>
          </a:p>
          <a:p>
            <a:r>
              <a:rPr lang="el-GR" b="1" dirty="0"/>
              <a:t>Κάθε νέο δέντρο εκπαιδεύεται για να διορθώνει τα σφάλματα που έκανε το προηγούμενο </a:t>
            </a:r>
            <a:r>
              <a:rPr lang="el-GR" b="1" dirty="0" smtClean="0"/>
              <a:t>δέντρο</a:t>
            </a:r>
            <a:r>
              <a:rPr lang="en-US" b="1" dirty="0" smtClean="0"/>
              <a:t> !!!</a:t>
            </a:r>
            <a:endParaRPr lang="en-US" b="1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04759" y="656961"/>
            <a:ext cx="7729728" cy="1188720"/>
          </a:xfrm>
        </p:spPr>
        <p:txBody>
          <a:bodyPr/>
          <a:lstStyle/>
          <a:p>
            <a:r>
              <a:rPr lang="el-GR" dirty="0" err="1" smtClean="0"/>
              <a:t>Αρχιτεκτονικη</a:t>
            </a:r>
            <a:r>
              <a:rPr lang="el-GR" dirty="0" smtClean="0"/>
              <a:t> </a:t>
            </a:r>
            <a:r>
              <a:rPr lang="el-GR" dirty="0"/>
              <a:t>– </a:t>
            </a:r>
            <a:r>
              <a:rPr lang="el-GR" dirty="0" err="1" smtClean="0"/>
              <a:t>Συντομη</a:t>
            </a:r>
            <a:r>
              <a:rPr lang="el-GR" dirty="0" smtClean="0"/>
              <a:t> </a:t>
            </a:r>
            <a:r>
              <a:rPr lang="el-GR" dirty="0" err="1" smtClean="0"/>
              <a:t>εξηγηση</a:t>
            </a:r>
            <a:r>
              <a:rPr lang="el-GR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9546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training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8307" y="2638425"/>
            <a:ext cx="7435387" cy="310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026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5152" y="485192"/>
            <a:ext cx="7729728" cy="141825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l-GR" dirty="0" err="1" smtClean="0"/>
              <a:t>Δημιουργια</a:t>
            </a:r>
            <a:r>
              <a:rPr lang="el-GR" dirty="0" smtClean="0"/>
              <a:t> </a:t>
            </a:r>
            <a:r>
              <a:rPr lang="el-GR" dirty="0" err="1" smtClean="0"/>
              <a:t>Διακλαδωσεων</a:t>
            </a:r>
            <a:r>
              <a:rPr lang="el-GR" dirty="0" smtClean="0"/>
              <a:t> </a:t>
            </a:r>
            <a:r>
              <a:rPr lang="el-GR" dirty="0"/>
              <a:t>- </a:t>
            </a:r>
            <a:r>
              <a:rPr lang="el-GR" dirty="0" err="1" smtClean="0"/>
              <a:t>Επιλογη</a:t>
            </a:r>
            <a:r>
              <a:rPr lang="el-GR" dirty="0" smtClean="0"/>
              <a:t> </a:t>
            </a:r>
            <a:r>
              <a:rPr lang="en-US" dirty="0"/>
              <a:t>Features </a:t>
            </a:r>
            <a:r>
              <a:rPr lang="el-GR" dirty="0" err="1" smtClean="0"/>
              <a:t>Δεντρων</a:t>
            </a:r>
            <a:r>
              <a:rPr lang="el-GR" dirty="0" smtClean="0"/>
              <a:t> </a:t>
            </a:r>
            <a:r>
              <a:rPr lang="el-GR" dirty="0"/>
              <a:t>από τον </a:t>
            </a:r>
            <a:r>
              <a:rPr lang="en-US" dirty="0" err="1" smtClean="0"/>
              <a:t>XGBoost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2978" y="2123579"/>
            <a:ext cx="6304337" cy="34321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22978" y="5688596"/>
            <a:ext cx="58675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xgboost.readthedocs.io/en/stable/tutorials/model.html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5419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 smtClean="0"/>
              <a:t>κανονικοποιηση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795621"/>
          </a:xfrm>
        </p:spPr>
        <p:txBody>
          <a:bodyPr/>
          <a:lstStyle/>
          <a:p>
            <a:r>
              <a:rPr lang="el-GR" dirty="0"/>
              <a:t>Η περιπλοκότητα του δέντρου υπολογίζεται ως: </a:t>
            </a:r>
            <a:r>
              <a:rPr lang="el-GR" b="1" dirty="0"/>
              <a:t>γ*Πλήθος Φύλλων + ½*λ*Άθροισμα Σκορ των φύλλων: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72" y="3597410"/>
            <a:ext cx="7125694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409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 smtClean="0"/>
              <a:t>κανονικοποιηση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952" y="2282019"/>
            <a:ext cx="5506095" cy="41187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83377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</a:t>
            </a:r>
            <a:r>
              <a:rPr lang="el-GR" dirty="0" smtClean="0"/>
              <a:t>-</a:t>
            </a:r>
            <a:r>
              <a:rPr lang="en-US" dirty="0" smtClean="0"/>
              <a:t>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 smtClean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Train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XGBoost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classifier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C8C8C8"/>
                </a:solidFill>
                <a:latin typeface="Consolas" panose="020B0609020204030204" pitchFamily="49" charset="0"/>
              </a:rPr>
              <a:t>clf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XGBClassifier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F7F7F"/>
                </a:solidFill>
                <a:latin typeface="Consolas" panose="020B0609020204030204" pitchFamily="49" charset="0"/>
              </a:rPr>
              <a:t>n_estimators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F7F7F"/>
                </a:solidFill>
                <a:latin typeface="Consolas" panose="020B0609020204030204" pitchFamily="49" charset="0"/>
              </a:rPr>
              <a:t>max_depth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F7F7F"/>
                </a:solidFill>
                <a:latin typeface="Consolas" panose="020B0609020204030204" pitchFamily="49" charset="0"/>
              </a:rPr>
              <a:t>learning_rate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0.3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F7F7F"/>
                </a:solidFill>
                <a:latin typeface="Consolas" panose="020B0609020204030204" pitchFamily="49" charset="0"/>
              </a:rPr>
              <a:t>random_state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F7F7F"/>
                </a:solidFill>
                <a:latin typeface="Consolas" panose="020B0609020204030204" pitchFamily="49" charset="0"/>
              </a:rPr>
              <a:t>eval_metric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mlogloss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F7F7F"/>
                </a:solidFill>
                <a:latin typeface="Consolas" panose="020B0609020204030204" pitchFamily="49" charset="0"/>
              </a:rPr>
              <a:t>use_label_encoder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2755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7" y="278892"/>
            <a:ext cx="7729728" cy="1188720"/>
          </a:xfrm>
        </p:spPr>
        <p:txBody>
          <a:bodyPr/>
          <a:lstStyle/>
          <a:p>
            <a:r>
              <a:rPr lang="en-US" dirty="0" smtClean="0"/>
              <a:t>Confusion matrix</a:t>
            </a:r>
            <a:endParaRPr lang="en-US" dirty="0"/>
          </a:p>
        </p:txBody>
      </p:sp>
      <p:pic>
        <p:nvPicPr>
          <p:cNvPr id="1026" name="Picture 2" descr="C:\Users\USER\AppData\Local\Microsoft\Windows\Clipboard\HistoryData\{9FFE786C-3639-400E-B1FB-72E6BFF091D3}\{58536D55-1016-4698-AD22-6CFD5FD343EB}\ResourceMap\{DAE37597-D03C-41F0-810C-62EEA6E7AA2F}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81" y="2400299"/>
            <a:ext cx="4619120" cy="397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138" y="2327468"/>
            <a:ext cx="4632096" cy="404446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91081" y="1890319"/>
            <a:ext cx="2412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N=50 depth=8 f=10000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79138" y="1890319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N=100 depth=6 </a:t>
            </a:r>
            <a:r>
              <a:rPr lang="en-US" dirty="0"/>
              <a:t>f=10000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2084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57" y="390101"/>
            <a:ext cx="8135485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470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 consideration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Conda</a:t>
            </a:r>
            <a:r>
              <a:rPr lang="en-US" dirty="0" smtClean="0"/>
              <a:t> – Virtual environments</a:t>
            </a:r>
          </a:p>
          <a:p>
            <a:r>
              <a:rPr lang="en-US" dirty="0" smtClean="0"/>
              <a:t>Terminal </a:t>
            </a:r>
            <a:r>
              <a:rPr lang="en-US" dirty="0" err="1" smtClean="0"/>
              <a:t>cheatsheet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104141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Intuition </a:t>
            </a:r>
            <a:r>
              <a:rPr lang="en-US" dirty="0" err="1" smtClean="0"/>
              <a:t>tf-idf+xgboost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438" y="2679077"/>
            <a:ext cx="7731125" cy="302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4285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titanic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8402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www.kaggle.com/competitions/titanic/overview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www.kaggle.com/code/alexisbcook/titanic-tutorial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3654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Logistic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17365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693</TotalTime>
  <Words>1756</Words>
  <Application>Microsoft Office PowerPoint</Application>
  <PresentationFormat>Widescreen</PresentationFormat>
  <Paragraphs>297</Paragraphs>
  <Slides>67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9" baseType="lpstr">
      <vt:lpstr>Arial</vt:lpstr>
      <vt:lpstr>Calibri</vt:lpstr>
      <vt:lpstr>Cambria Math</vt:lpstr>
      <vt:lpstr>Consolas</vt:lpstr>
      <vt:lpstr>Corbel</vt:lpstr>
      <vt:lpstr>Gill Sans MT</vt:lpstr>
      <vt:lpstr>Google Sans Flex</vt:lpstr>
      <vt:lpstr>Google Sans Text</vt:lpstr>
      <vt:lpstr>Nunito</vt:lpstr>
      <vt:lpstr>Times New Roman</vt:lpstr>
      <vt:lpstr>Wingdings</vt:lpstr>
      <vt:lpstr>Parcel</vt:lpstr>
      <vt:lpstr>classification</vt:lpstr>
      <vt:lpstr>Intro to classification</vt:lpstr>
      <vt:lpstr>classification</vt:lpstr>
      <vt:lpstr>classification</vt:lpstr>
      <vt:lpstr>TYPES</vt:lpstr>
      <vt:lpstr>TYPES</vt:lpstr>
      <vt:lpstr>TYPES</vt:lpstr>
      <vt:lpstr>Unsupervised vs supervised</vt:lpstr>
      <vt:lpstr>PowerPoint Presentation</vt:lpstr>
      <vt:lpstr>PowerPoint Presentation</vt:lpstr>
      <vt:lpstr>PowerPoint Presentation</vt:lpstr>
      <vt:lpstr>applicationS</vt:lpstr>
      <vt:lpstr>classification</vt:lpstr>
      <vt:lpstr>Non-linear Classifiers</vt:lpstr>
      <vt:lpstr>steps</vt:lpstr>
      <vt:lpstr>Feature extraction</vt:lpstr>
      <vt:lpstr>agenda</vt:lpstr>
      <vt:lpstr>ALGORITHMs</vt:lpstr>
      <vt:lpstr>Text classification</vt:lpstr>
      <vt:lpstr>vectorization</vt:lpstr>
      <vt:lpstr> Parsing - Label Encoder: </vt:lpstr>
      <vt:lpstr>Vectorization TF-IDF matrix</vt:lpstr>
      <vt:lpstr>PowerPoint Presentation</vt:lpstr>
      <vt:lpstr>Tf-idf</vt:lpstr>
      <vt:lpstr>TF-IDF vs BERT</vt:lpstr>
      <vt:lpstr>Algorithms for news classification</vt:lpstr>
      <vt:lpstr>Suggested agenda</vt:lpstr>
      <vt:lpstr>Naive Bayes Classifiers </vt:lpstr>
      <vt:lpstr>Naive Bayes Classifiers </vt:lpstr>
      <vt:lpstr>Naive Assumption</vt:lpstr>
      <vt:lpstr>Decision rule</vt:lpstr>
      <vt:lpstr>Decision rule</vt:lpstr>
      <vt:lpstr>ΓΙΑΤΙ ΧΡΕΙΑΖΕΤΑΙ ΝΕΥΡΩΝΙΚΟ;</vt:lpstr>
      <vt:lpstr>NEURAL NETWORK</vt:lpstr>
      <vt:lpstr>20 news group</vt:lpstr>
      <vt:lpstr>NAÏVE BAYES ON 20NEWSGROUP</vt:lpstr>
      <vt:lpstr>F1-score</vt:lpstr>
      <vt:lpstr>evaluation</vt:lpstr>
      <vt:lpstr>Confusion matrix</vt:lpstr>
      <vt:lpstr>PowerPoint Presentation</vt:lpstr>
      <vt:lpstr>PowerPoint Presentation</vt:lpstr>
      <vt:lpstr>Βελτιωση αλγοριθμου</vt:lpstr>
      <vt:lpstr>Βελτιωση αλγοριθμου</vt:lpstr>
      <vt:lpstr>Βελτιωση συστηματοσ</vt:lpstr>
      <vt:lpstr>EXAMPLE RESULTS</vt:lpstr>
      <vt:lpstr>ΠΡΟΕΤΟΙΜΑΣΙΑ ΓΙΑ ΤΙΤΑΝΙΚΟ</vt:lpstr>
      <vt:lpstr>xgboost</vt:lpstr>
      <vt:lpstr>XGBOOST</vt:lpstr>
      <vt:lpstr>xgboost</vt:lpstr>
      <vt:lpstr>Δεντρο Αποφασης</vt:lpstr>
      <vt:lpstr>Δεντρο Αποφασης</vt:lpstr>
      <vt:lpstr>PowerPoint Presentation</vt:lpstr>
      <vt:lpstr>Συνδυασμοσ δεντρων</vt:lpstr>
      <vt:lpstr>εικονεσ</vt:lpstr>
      <vt:lpstr>Αρχιτεκτονικη – Συντομη εξηγηση </vt:lpstr>
      <vt:lpstr>training</vt:lpstr>
      <vt:lpstr> Δημιουργια Διακλαδωσεων - Επιλογη Features Δεντρων από τον XGBoost </vt:lpstr>
      <vt:lpstr>κανονικοποιηση</vt:lpstr>
      <vt:lpstr>κανονικοποιηση</vt:lpstr>
      <vt:lpstr>Hyper-parameters</vt:lpstr>
      <vt:lpstr>Confusion matrix</vt:lpstr>
      <vt:lpstr>PowerPoint Presentation</vt:lpstr>
      <vt:lpstr>Extra consideration</vt:lpstr>
      <vt:lpstr>Intuition tf-idf+xgboost</vt:lpstr>
      <vt:lpstr>titanic</vt:lpstr>
      <vt:lpstr>links</vt:lpstr>
      <vt:lpstr>Logistic regression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classification</dc:title>
  <dc:creator>USER</dc:creator>
  <cp:lastModifiedBy>USER</cp:lastModifiedBy>
  <cp:revision>44</cp:revision>
  <dcterms:created xsi:type="dcterms:W3CDTF">2025-10-31T10:55:28Z</dcterms:created>
  <dcterms:modified xsi:type="dcterms:W3CDTF">2025-11-14T19:49:40Z</dcterms:modified>
</cp:coreProperties>
</file>